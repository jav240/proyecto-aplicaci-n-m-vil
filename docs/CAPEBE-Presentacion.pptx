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rebuchet MS Bold" charset="1" panose="020B0703020202020204"/>
      <p:regular r:id="rId19"/>
    </p:embeddedFon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4"/>
    </p:embeddedFont>
    <p:embeddedFont>
      <p:font typeface="Calibri (MS) Italics" charset="1" panose="020F05020202040A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Presentación del proyecto: una app para que los socios del club reserven vuelos recreativos.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club necesita que el socio pueda reservar y presentarse con un pase digital.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Estas son las seis funciones que cubre el rol socio.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Recorrido completo: desde el registro hasta presentar el pase con QR.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calendario usa la intención del sistema, por eso no pide permisos.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Cada capa tiene una responsabilidad; las utilidades se comparten entre pantallas.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Todo el proyecto se compila con Gradle y se ejecuta en emulador.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Las reglas están centralizadas en el objeto Validaciones.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Las tareas se reparten entre los dos integrantes y se mueven en el tablero.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Cierre y espacio para preguntas.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Relationship Id="rId8" Target="../media/image9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57200" cy="10287000"/>
            <a:chOff x="0" y="0"/>
            <a:chExt cx="609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5920" y="1645920"/>
            <a:ext cx="1280160" cy="1280160"/>
            <a:chOff x="0" y="0"/>
            <a:chExt cx="1706880" cy="1706880"/>
          </a:xfrm>
        </p:grpSpPr>
        <p:sp>
          <p:nvSpPr>
            <p:cNvPr name="Freeform 5" id="5" descr="Avión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5920" y="3200400"/>
            <a:ext cx="14996160" cy="1645920"/>
            <a:chOff x="0" y="0"/>
            <a:chExt cx="1999488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999488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59"/>
                </a:lnSpc>
              </a:pPr>
              <a:r>
                <a:rPr lang="en-US" sz="87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5920" y="4937760"/>
            <a:ext cx="14996160" cy="914400"/>
            <a:chOff x="0" y="0"/>
            <a:chExt cx="1999488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9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999488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FFB74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Club Aéreo del Personal de BancoEstado · CAPEBE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3223" y="6296663"/>
            <a:ext cx="2219963" cy="116843"/>
            <a:chOff x="0" y="0"/>
            <a:chExt cx="2959951" cy="155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59989" cy="155829"/>
            </a:xfrm>
            <a:custGeom>
              <a:avLst/>
              <a:gdLst/>
              <a:ahLst/>
              <a:cxnLst/>
              <a:rect r="r" b="b" t="t" l="l"/>
              <a:pathLst>
                <a:path h="155829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45920" y="6766560"/>
            <a:ext cx="14996160" cy="1645920"/>
            <a:chOff x="0" y="0"/>
            <a:chExt cx="1999488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94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99488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6E4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DSY1105 · Evaluación Parcial 2</a:t>
              </a:r>
            </a:p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D6E4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Android con Kotlin, Jetpack Compose y Material 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Objetivo del proyecto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2916555"/>
            <a:ext cx="5249418" cy="5322570"/>
            <a:chOff x="0" y="0"/>
            <a:chExt cx="6999224" cy="7096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9224" cy="7096760"/>
            </a:xfrm>
            <a:custGeom>
              <a:avLst/>
              <a:gdLst/>
              <a:ahLst/>
              <a:cxnLst/>
              <a:rect r="r" b="b" t="t" l="l"/>
              <a:pathLst>
                <a:path h="7096760" w="6999224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6803517" y="0"/>
                  </a:lnTo>
                  <a:cubicBezTo>
                    <a:pt x="6911594" y="0"/>
                    <a:pt x="6999224" y="87630"/>
                    <a:pt x="6999224" y="195707"/>
                  </a:cubicBezTo>
                  <a:lnTo>
                    <a:pt x="6999224" y="6901053"/>
                  </a:lnTo>
                  <a:cubicBezTo>
                    <a:pt x="6999224" y="7009130"/>
                    <a:pt x="6911594" y="7096760"/>
                    <a:pt x="6803517" y="7096760"/>
                  </a:cubicBezTo>
                  <a:lnTo>
                    <a:pt x="195707" y="7096760"/>
                  </a:lnTo>
                  <a:cubicBezTo>
                    <a:pt x="87630" y="7096760"/>
                    <a:pt x="0" y="7009130"/>
                    <a:pt x="0" y="6901053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1783" y="3370583"/>
            <a:ext cx="939803" cy="939803"/>
            <a:chOff x="0" y="0"/>
            <a:chExt cx="1253071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792224" y="3621024"/>
            <a:ext cx="438912" cy="438912"/>
            <a:chOff x="0" y="0"/>
            <a:chExt cx="585216" cy="585216"/>
          </a:xfrm>
        </p:grpSpPr>
        <p:sp>
          <p:nvSpPr>
            <p:cNvPr name="Freeform 17" id="17" descr="Ícono Para quié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54480" y="4663440"/>
            <a:ext cx="4389120" cy="731520"/>
            <a:chOff x="0" y="0"/>
            <a:chExt cx="58521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8521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Para quién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54480" y="5419725"/>
            <a:ext cx="43891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Socios del Club Aéreo del Personal de BancoEstado (rol socio).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19291" y="2916555"/>
            <a:ext cx="5249418" cy="5322570"/>
            <a:chOff x="0" y="0"/>
            <a:chExt cx="6999224" cy="7096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99224" cy="7096760"/>
            </a:xfrm>
            <a:custGeom>
              <a:avLst/>
              <a:gdLst/>
              <a:ahLst/>
              <a:cxnLst/>
              <a:rect r="r" b="b" t="t" l="l"/>
              <a:pathLst>
                <a:path h="7096760" w="6999224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6803517" y="0"/>
                  </a:lnTo>
                  <a:cubicBezTo>
                    <a:pt x="6911594" y="0"/>
                    <a:pt x="6999224" y="87630"/>
                    <a:pt x="6999224" y="195707"/>
                  </a:cubicBezTo>
                  <a:lnTo>
                    <a:pt x="6999224" y="6901053"/>
                  </a:lnTo>
                  <a:cubicBezTo>
                    <a:pt x="6999224" y="7009130"/>
                    <a:pt x="6911594" y="7096760"/>
                    <a:pt x="6803517" y="7096760"/>
                  </a:cubicBezTo>
                  <a:lnTo>
                    <a:pt x="195707" y="7096760"/>
                  </a:lnTo>
                  <a:cubicBezTo>
                    <a:pt x="87630" y="7096760"/>
                    <a:pt x="0" y="7009130"/>
                    <a:pt x="0" y="6901053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973319" y="3370583"/>
            <a:ext cx="939803" cy="939803"/>
            <a:chOff x="0" y="0"/>
            <a:chExt cx="1253071" cy="1253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223760" y="3621024"/>
            <a:ext cx="438912" cy="438912"/>
            <a:chOff x="0" y="0"/>
            <a:chExt cx="585216" cy="585216"/>
          </a:xfrm>
        </p:grpSpPr>
        <p:sp>
          <p:nvSpPr>
            <p:cNvPr name="Freeform 27" id="27" descr="Ícono Qué resuelve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86016" y="4663440"/>
            <a:ext cx="4389120" cy="731520"/>
            <a:chOff x="0" y="0"/>
            <a:chExt cx="585216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8521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Qué resuelve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986016" y="5419725"/>
            <a:ext cx="43891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Reservar un vuelo recreativo, firmar el consentimiento y llegar al aeródromo con su pase de abordaje.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950827" y="2916555"/>
            <a:ext cx="5249418" cy="5322570"/>
            <a:chOff x="0" y="0"/>
            <a:chExt cx="6999224" cy="7096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99224" cy="7096760"/>
            </a:xfrm>
            <a:custGeom>
              <a:avLst/>
              <a:gdLst/>
              <a:ahLst/>
              <a:cxnLst/>
              <a:rect r="r" b="b" t="t" l="l"/>
              <a:pathLst>
                <a:path h="7096760" w="6999224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6803517" y="0"/>
                  </a:lnTo>
                  <a:cubicBezTo>
                    <a:pt x="6911594" y="0"/>
                    <a:pt x="6999224" y="87630"/>
                    <a:pt x="6999224" y="195707"/>
                  </a:cubicBezTo>
                  <a:lnTo>
                    <a:pt x="6999224" y="6901053"/>
                  </a:lnTo>
                  <a:cubicBezTo>
                    <a:pt x="6999224" y="7009130"/>
                    <a:pt x="6911594" y="7096760"/>
                    <a:pt x="6803517" y="7096760"/>
                  </a:cubicBezTo>
                  <a:lnTo>
                    <a:pt x="195707" y="7096760"/>
                  </a:lnTo>
                  <a:cubicBezTo>
                    <a:pt x="87630" y="7096760"/>
                    <a:pt x="0" y="7009130"/>
                    <a:pt x="0" y="6901053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404855" y="3370583"/>
            <a:ext cx="939803" cy="939803"/>
            <a:chOff x="0" y="0"/>
            <a:chExt cx="1253071" cy="12530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655296" y="3621024"/>
            <a:ext cx="438912" cy="438912"/>
            <a:chOff x="0" y="0"/>
            <a:chExt cx="585216" cy="585216"/>
          </a:xfrm>
        </p:grpSpPr>
        <p:sp>
          <p:nvSpPr>
            <p:cNvPr name="Freeform 37" id="37" descr="Ícono Alcance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17552" y="4663440"/>
            <a:ext cx="4389120" cy="731520"/>
            <a:chOff x="0" y="0"/>
            <a:chExt cx="585216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2160" cy="975360"/>
            </a:xfrm>
            <a:custGeom>
              <a:avLst/>
              <a:gdLst/>
              <a:ahLst/>
              <a:cxnLst/>
              <a:rect r="r" b="b" t="t" l="l"/>
              <a:pathLst>
                <a:path h="975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8521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Alcance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417552" y="5419725"/>
            <a:ext cx="43891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Registro, login, vuelos, consentimiento y pase con QR. Datos guardados en el teléfono con Room.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Funcionalidades principales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2733675"/>
            <a:ext cx="5249418" cy="3128010"/>
            <a:chOff x="0" y="0"/>
            <a:chExt cx="6999224" cy="4170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50343" y="3096263"/>
            <a:ext cx="939803" cy="939803"/>
            <a:chOff x="0" y="0"/>
            <a:chExt cx="1253071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700784" y="3346704"/>
            <a:ext cx="438912" cy="438912"/>
            <a:chOff x="0" y="0"/>
            <a:chExt cx="585216" cy="585216"/>
          </a:xfrm>
        </p:grpSpPr>
        <p:sp>
          <p:nvSpPr>
            <p:cNvPr name="Freeform 17" id="17" descr="Ícono Registro y logi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651760" y="3108960"/>
            <a:ext cx="3474720" cy="914400"/>
            <a:chOff x="0" y="0"/>
            <a:chExt cx="463296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63296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Registro y login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63040" y="4250055"/>
            <a:ext cx="4572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Formularios con ícono y mensaje de error por campo.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19291" y="2733675"/>
            <a:ext cx="5249418" cy="3128010"/>
            <a:chOff x="0" y="0"/>
            <a:chExt cx="6999224" cy="4170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81879" y="3096263"/>
            <a:ext cx="939803" cy="939803"/>
            <a:chOff x="0" y="0"/>
            <a:chExt cx="1253071" cy="1253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132320" y="3346704"/>
            <a:ext cx="438912" cy="438912"/>
            <a:chOff x="0" y="0"/>
            <a:chExt cx="585216" cy="585216"/>
          </a:xfrm>
        </p:grpSpPr>
        <p:sp>
          <p:nvSpPr>
            <p:cNvPr name="Freeform 27" id="27" descr="Ícono Vuelos disponibles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083296" y="3108960"/>
            <a:ext cx="3474720" cy="914400"/>
            <a:chOff x="0" y="0"/>
            <a:chExt cx="463296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63296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Vuelos disponibles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894576" y="4250055"/>
            <a:ext cx="4572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Tarjetas por vuelo con filtro por fecha.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950827" y="2733675"/>
            <a:ext cx="5249418" cy="3128010"/>
            <a:chOff x="0" y="0"/>
            <a:chExt cx="6999224" cy="4170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13415" y="3096263"/>
            <a:ext cx="939803" cy="939803"/>
            <a:chOff x="0" y="0"/>
            <a:chExt cx="1253071" cy="12530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563856" y="3346704"/>
            <a:ext cx="438912" cy="438912"/>
            <a:chOff x="0" y="0"/>
            <a:chExt cx="585216" cy="585216"/>
          </a:xfrm>
        </p:grpSpPr>
        <p:sp>
          <p:nvSpPr>
            <p:cNvPr name="Freeform 37" id="37" descr="Ícono Aceptar vuelo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514832" y="3108960"/>
            <a:ext cx="3474720" cy="914400"/>
            <a:chOff x="0" y="0"/>
            <a:chExt cx="463296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63296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Aceptar vuelo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326112" y="4250055"/>
            <a:ext cx="4572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Detalle del vuelo y confirmación por correo.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87755" y="6116955"/>
            <a:ext cx="5249418" cy="3128010"/>
            <a:chOff x="0" y="0"/>
            <a:chExt cx="6999224" cy="4170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50343" y="6479543"/>
            <a:ext cx="939803" cy="939803"/>
            <a:chOff x="0" y="0"/>
            <a:chExt cx="1253071" cy="12530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700784" y="6729984"/>
            <a:ext cx="438912" cy="438912"/>
            <a:chOff x="0" y="0"/>
            <a:chExt cx="585216" cy="585216"/>
          </a:xfrm>
        </p:grpSpPr>
        <p:sp>
          <p:nvSpPr>
            <p:cNvPr name="Freeform 47" id="47" descr="Ícono Consentimiento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651760" y="6492240"/>
            <a:ext cx="3474720" cy="914400"/>
            <a:chOff x="0" y="0"/>
            <a:chExt cx="463296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63296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Consentimiento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63040" y="7633335"/>
            <a:ext cx="4572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Estado PENDIENTE o FIRMADO con animación.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519291" y="6116955"/>
            <a:ext cx="5249418" cy="3128010"/>
            <a:chOff x="0" y="0"/>
            <a:chExt cx="6999224" cy="41706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881879" y="6479543"/>
            <a:ext cx="939803" cy="939803"/>
            <a:chOff x="0" y="0"/>
            <a:chExt cx="1253071" cy="12530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132320" y="6729984"/>
            <a:ext cx="438912" cy="438912"/>
            <a:chOff x="0" y="0"/>
            <a:chExt cx="585216" cy="585216"/>
          </a:xfrm>
        </p:grpSpPr>
        <p:sp>
          <p:nvSpPr>
            <p:cNvPr name="Freeform 57" id="57" descr="Ícono Pase de abordaje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083296" y="6492240"/>
            <a:ext cx="3474720" cy="914400"/>
            <a:chOff x="0" y="0"/>
            <a:chExt cx="463296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63296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Pase de abordaje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894576" y="7633335"/>
            <a:ext cx="4572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Datos del socio y del vuelo con código QR.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950827" y="6116955"/>
            <a:ext cx="5249418" cy="3128010"/>
            <a:chOff x="0" y="0"/>
            <a:chExt cx="6999224" cy="4170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313415" y="6479543"/>
            <a:ext cx="939803" cy="939803"/>
            <a:chOff x="0" y="0"/>
            <a:chExt cx="1253071" cy="125307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563856" y="6729984"/>
            <a:ext cx="438912" cy="438912"/>
            <a:chOff x="0" y="0"/>
            <a:chExt cx="585216" cy="585216"/>
          </a:xfrm>
        </p:grpSpPr>
        <p:sp>
          <p:nvSpPr>
            <p:cNvPr name="Freeform 67" id="67" descr="Ícono Datos locales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514832" y="6492240"/>
            <a:ext cx="3474720" cy="914400"/>
            <a:chOff x="0" y="0"/>
            <a:chExt cx="463296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463296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Datos locales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326112" y="7633335"/>
            <a:ext cx="4572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Usuarios guardados en Room (SQLite).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Flujo de la aplicación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2733675"/>
            <a:ext cx="3859530" cy="2945130"/>
            <a:chOff x="0" y="0"/>
            <a:chExt cx="5146040" cy="3926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460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1460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49698" y="0"/>
                  </a:lnTo>
                  <a:cubicBezTo>
                    <a:pt x="5058156" y="0"/>
                    <a:pt x="5146040" y="87884"/>
                    <a:pt x="5146040" y="196342"/>
                  </a:cubicBezTo>
                  <a:lnTo>
                    <a:pt x="5146040" y="3730498"/>
                  </a:lnTo>
                  <a:cubicBezTo>
                    <a:pt x="5146040" y="3838956"/>
                    <a:pt x="5058156" y="3926840"/>
                    <a:pt x="49496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58903" y="3004823"/>
            <a:ext cx="756923" cy="756923"/>
            <a:chOff x="0" y="0"/>
            <a:chExt cx="1009231" cy="10092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3017520"/>
            <a:ext cx="731520" cy="731520"/>
            <a:chOff x="0" y="0"/>
            <a:chExt cx="97536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3931920"/>
            <a:ext cx="3291840" cy="640080"/>
            <a:chOff x="0" y="0"/>
            <a:chExt cx="438912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Registro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1600" y="4533900"/>
            <a:ext cx="32918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El socio crea su cuenta.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202555" y="2733675"/>
            <a:ext cx="3859530" cy="2945130"/>
            <a:chOff x="0" y="0"/>
            <a:chExt cx="5146040" cy="3926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460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1460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49698" y="0"/>
                  </a:lnTo>
                  <a:cubicBezTo>
                    <a:pt x="5058156" y="0"/>
                    <a:pt x="5146040" y="87884"/>
                    <a:pt x="5146040" y="196342"/>
                  </a:cubicBezTo>
                  <a:lnTo>
                    <a:pt x="5146040" y="3730498"/>
                  </a:lnTo>
                  <a:cubicBezTo>
                    <a:pt x="5146040" y="3838956"/>
                    <a:pt x="5058156" y="3926840"/>
                    <a:pt x="49496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473703" y="3004823"/>
            <a:ext cx="756923" cy="756923"/>
            <a:chOff x="0" y="0"/>
            <a:chExt cx="1009231" cy="10092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0" y="3017520"/>
            <a:ext cx="731520" cy="731520"/>
            <a:chOff x="0" y="0"/>
            <a:chExt cx="9753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86400" y="3931920"/>
            <a:ext cx="3291840" cy="640080"/>
            <a:chOff x="0" y="0"/>
            <a:chExt cx="438912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Login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486400" y="4533900"/>
            <a:ext cx="32918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Entra con correo y contraseña.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17355" y="2733675"/>
            <a:ext cx="3859530" cy="2945130"/>
            <a:chOff x="0" y="0"/>
            <a:chExt cx="5146040" cy="3926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460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1460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49698" y="0"/>
                  </a:lnTo>
                  <a:cubicBezTo>
                    <a:pt x="5058156" y="0"/>
                    <a:pt x="5146040" y="87884"/>
                    <a:pt x="5146040" y="196342"/>
                  </a:cubicBezTo>
                  <a:lnTo>
                    <a:pt x="5146040" y="3730498"/>
                  </a:lnTo>
                  <a:cubicBezTo>
                    <a:pt x="5146040" y="3838956"/>
                    <a:pt x="5058156" y="3926840"/>
                    <a:pt x="49496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88503" y="3004823"/>
            <a:ext cx="756923" cy="756923"/>
            <a:chOff x="0" y="0"/>
            <a:chExt cx="1009231" cy="10092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601200" y="3017520"/>
            <a:ext cx="731520" cy="731520"/>
            <a:chOff x="0" y="0"/>
            <a:chExt cx="97536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0" y="3931920"/>
            <a:ext cx="3291840" cy="640080"/>
            <a:chOff x="0" y="0"/>
            <a:chExt cx="438912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Menú del socio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601200" y="4533900"/>
            <a:ext cx="32918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Reservar vuelo o ir al aeródromo.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432155" y="2733675"/>
            <a:ext cx="3859530" cy="2945130"/>
            <a:chOff x="0" y="0"/>
            <a:chExt cx="5146040" cy="3926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460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1460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49698" y="0"/>
                  </a:lnTo>
                  <a:cubicBezTo>
                    <a:pt x="5058156" y="0"/>
                    <a:pt x="5146040" y="87884"/>
                    <a:pt x="5146040" y="196342"/>
                  </a:cubicBezTo>
                  <a:lnTo>
                    <a:pt x="5146040" y="3730498"/>
                  </a:lnTo>
                  <a:cubicBezTo>
                    <a:pt x="5146040" y="3838956"/>
                    <a:pt x="5058156" y="3926840"/>
                    <a:pt x="49496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703303" y="3004823"/>
            <a:ext cx="756923" cy="756923"/>
            <a:chOff x="0" y="0"/>
            <a:chExt cx="1009231" cy="10092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716000" y="3017520"/>
            <a:ext cx="731520" cy="731520"/>
            <a:chOff x="0" y="0"/>
            <a:chExt cx="97536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16000" y="3931920"/>
            <a:ext cx="3291840" cy="640080"/>
            <a:chOff x="0" y="0"/>
            <a:chExt cx="438912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Vuelos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3716000" y="4533900"/>
            <a:ext cx="32918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Elige uno y filtra por fecha.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87755" y="6025515"/>
            <a:ext cx="3859530" cy="2945130"/>
            <a:chOff x="0" y="0"/>
            <a:chExt cx="5146040" cy="3926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460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1460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49698" y="0"/>
                  </a:lnTo>
                  <a:cubicBezTo>
                    <a:pt x="5058156" y="0"/>
                    <a:pt x="5146040" y="87884"/>
                    <a:pt x="5146040" y="196342"/>
                  </a:cubicBezTo>
                  <a:lnTo>
                    <a:pt x="5146040" y="3730498"/>
                  </a:lnTo>
                  <a:cubicBezTo>
                    <a:pt x="5146040" y="3838956"/>
                    <a:pt x="5058156" y="3926840"/>
                    <a:pt x="49496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58903" y="6296663"/>
            <a:ext cx="756923" cy="756923"/>
            <a:chOff x="0" y="0"/>
            <a:chExt cx="1009231" cy="100923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71600" y="6309360"/>
            <a:ext cx="731520" cy="731520"/>
            <a:chOff x="0" y="0"/>
            <a:chExt cx="975360" cy="9753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71600" y="7223760"/>
            <a:ext cx="3291840" cy="640080"/>
            <a:chOff x="0" y="0"/>
            <a:chExt cx="438912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Detalle y aceptar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371600" y="7825740"/>
            <a:ext cx="32918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Acepta y recibe el correo.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5202555" y="6025515"/>
            <a:ext cx="3859530" cy="2945130"/>
            <a:chOff x="0" y="0"/>
            <a:chExt cx="5146040" cy="3926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460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1460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49698" y="0"/>
                  </a:lnTo>
                  <a:cubicBezTo>
                    <a:pt x="5058156" y="0"/>
                    <a:pt x="5146040" y="87884"/>
                    <a:pt x="5146040" y="196342"/>
                  </a:cubicBezTo>
                  <a:lnTo>
                    <a:pt x="5146040" y="3730498"/>
                  </a:lnTo>
                  <a:cubicBezTo>
                    <a:pt x="5146040" y="3838956"/>
                    <a:pt x="5058156" y="3926840"/>
                    <a:pt x="49496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5473703" y="6296663"/>
            <a:ext cx="756923" cy="756923"/>
            <a:chOff x="0" y="0"/>
            <a:chExt cx="1009231" cy="10092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5486400" y="6309360"/>
            <a:ext cx="731520" cy="731520"/>
            <a:chOff x="0" y="0"/>
            <a:chExt cx="97536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486400" y="7223760"/>
            <a:ext cx="3291840" cy="640080"/>
            <a:chOff x="0" y="0"/>
            <a:chExt cx="438912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Consentimiento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5486400" y="7825740"/>
            <a:ext cx="32918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Firma antes de volar.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317355" y="6025515"/>
            <a:ext cx="3859530" cy="2945130"/>
            <a:chOff x="0" y="0"/>
            <a:chExt cx="5146040" cy="39268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460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1460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49698" y="0"/>
                  </a:lnTo>
                  <a:cubicBezTo>
                    <a:pt x="5058156" y="0"/>
                    <a:pt x="5146040" y="87884"/>
                    <a:pt x="5146040" y="196342"/>
                  </a:cubicBezTo>
                  <a:lnTo>
                    <a:pt x="5146040" y="3730498"/>
                  </a:lnTo>
                  <a:cubicBezTo>
                    <a:pt x="5146040" y="3838956"/>
                    <a:pt x="5058156" y="3926840"/>
                    <a:pt x="49496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588503" y="6296663"/>
            <a:ext cx="756923" cy="756923"/>
            <a:chOff x="0" y="0"/>
            <a:chExt cx="1009231" cy="100923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601200" y="6309360"/>
            <a:ext cx="731520" cy="731520"/>
            <a:chOff x="0" y="0"/>
            <a:chExt cx="975360" cy="9753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01200" y="7223760"/>
            <a:ext cx="3291840" cy="640080"/>
            <a:chOff x="0" y="0"/>
            <a:chExt cx="4389120" cy="8534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Pase de abordaje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9601200" y="7825740"/>
            <a:ext cx="32918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Muestra el QR en el aeródromo.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3432155" y="6025515"/>
            <a:ext cx="3859530" cy="2945130"/>
            <a:chOff x="0" y="0"/>
            <a:chExt cx="5146040" cy="3926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1460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51460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4949698" y="0"/>
                  </a:lnTo>
                  <a:cubicBezTo>
                    <a:pt x="5058156" y="0"/>
                    <a:pt x="5146040" y="87884"/>
                    <a:pt x="5146040" y="196342"/>
                  </a:cubicBezTo>
                  <a:lnTo>
                    <a:pt x="5146040" y="3730498"/>
                  </a:lnTo>
                  <a:cubicBezTo>
                    <a:pt x="5146040" y="3838956"/>
                    <a:pt x="5058156" y="3926840"/>
                    <a:pt x="49496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FFF3E0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3703303" y="6296663"/>
            <a:ext cx="756923" cy="756923"/>
            <a:chOff x="0" y="0"/>
            <a:chExt cx="1009231" cy="100923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3716000" y="6309360"/>
            <a:ext cx="731520" cy="731520"/>
            <a:chOff x="0" y="0"/>
            <a:chExt cx="975360" cy="9753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66675"/>
              <a:ext cx="9753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716000" y="7223760"/>
            <a:ext cx="3291840" cy="640080"/>
            <a:chOff x="0" y="0"/>
            <a:chExt cx="4389120" cy="8534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389120" cy="853440"/>
            </a:xfrm>
            <a:custGeom>
              <a:avLst/>
              <a:gdLst/>
              <a:ahLst/>
              <a:cxnLst/>
              <a:rect r="r" b="b" t="t" l="l"/>
              <a:pathLst>
                <a:path h="853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4389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Recursos nativos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13716000" y="7825740"/>
            <a:ext cx="32918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Calendario, correo y QR.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Recursos nativos del dispositivo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2733675"/>
            <a:ext cx="5249418" cy="5322570"/>
            <a:chOff x="0" y="0"/>
            <a:chExt cx="6999224" cy="7096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9224" cy="7096760"/>
            </a:xfrm>
            <a:custGeom>
              <a:avLst/>
              <a:gdLst/>
              <a:ahLst/>
              <a:cxnLst/>
              <a:rect r="r" b="b" t="t" l="l"/>
              <a:pathLst>
                <a:path h="7096760" w="6999224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6803517" y="0"/>
                  </a:lnTo>
                  <a:cubicBezTo>
                    <a:pt x="6911594" y="0"/>
                    <a:pt x="6999224" y="87630"/>
                    <a:pt x="6999224" y="195707"/>
                  </a:cubicBezTo>
                  <a:lnTo>
                    <a:pt x="6999224" y="6901053"/>
                  </a:lnTo>
                  <a:cubicBezTo>
                    <a:pt x="6999224" y="7009130"/>
                    <a:pt x="6911594" y="7096760"/>
                    <a:pt x="6803517" y="7096760"/>
                  </a:cubicBezTo>
                  <a:lnTo>
                    <a:pt x="195707" y="7096760"/>
                  </a:lnTo>
                  <a:cubicBezTo>
                    <a:pt x="87630" y="7096760"/>
                    <a:pt x="0" y="7009130"/>
                    <a:pt x="0" y="6901053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1783" y="3187703"/>
            <a:ext cx="939803" cy="939803"/>
            <a:chOff x="0" y="0"/>
            <a:chExt cx="1253071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792224" y="3438144"/>
            <a:ext cx="438912" cy="438912"/>
            <a:chOff x="0" y="0"/>
            <a:chExt cx="585216" cy="585216"/>
          </a:xfrm>
        </p:grpSpPr>
        <p:sp>
          <p:nvSpPr>
            <p:cNvPr name="Freeform 17" id="17" descr="Ícono Calendario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743200" y="3200400"/>
            <a:ext cx="3291840" cy="914400"/>
            <a:chOff x="0" y="0"/>
            <a:chExt cx="438912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389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Calendario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54480" y="4514850"/>
            <a:ext cx="438912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DatePicker para filtrar vuelos por fecha.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Agendar el vuelo en el calendario del teléfono con título, lugar y hora.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19291" y="2733675"/>
            <a:ext cx="5249418" cy="5322570"/>
            <a:chOff x="0" y="0"/>
            <a:chExt cx="6999224" cy="7096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99224" cy="7096760"/>
            </a:xfrm>
            <a:custGeom>
              <a:avLst/>
              <a:gdLst/>
              <a:ahLst/>
              <a:cxnLst/>
              <a:rect r="r" b="b" t="t" l="l"/>
              <a:pathLst>
                <a:path h="7096760" w="6999224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6803517" y="0"/>
                  </a:lnTo>
                  <a:cubicBezTo>
                    <a:pt x="6911594" y="0"/>
                    <a:pt x="6999224" y="87630"/>
                    <a:pt x="6999224" y="195707"/>
                  </a:cubicBezTo>
                  <a:lnTo>
                    <a:pt x="6999224" y="6901053"/>
                  </a:lnTo>
                  <a:cubicBezTo>
                    <a:pt x="6999224" y="7009130"/>
                    <a:pt x="6911594" y="7096760"/>
                    <a:pt x="6803517" y="7096760"/>
                  </a:cubicBezTo>
                  <a:lnTo>
                    <a:pt x="195707" y="7096760"/>
                  </a:lnTo>
                  <a:cubicBezTo>
                    <a:pt x="87630" y="7096760"/>
                    <a:pt x="0" y="7009130"/>
                    <a:pt x="0" y="6901053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973319" y="3187703"/>
            <a:ext cx="939803" cy="939803"/>
            <a:chOff x="0" y="0"/>
            <a:chExt cx="1253071" cy="1253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223760" y="3438144"/>
            <a:ext cx="438912" cy="438912"/>
            <a:chOff x="0" y="0"/>
            <a:chExt cx="585216" cy="585216"/>
          </a:xfrm>
        </p:grpSpPr>
        <p:sp>
          <p:nvSpPr>
            <p:cNvPr name="Freeform 27" id="27" descr="Ícono Correo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74736" y="3200400"/>
            <a:ext cx="3291840" cy="914400"/>
            <a:chOff x="0" y="0"/>
            <a:chExt cx="438912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389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Correo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986016" y="4514850"/>
            <a:ext cx="438912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Confirmación enviada al aceptar el vuelo.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Con el código QR adjunto como imagen.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950827" y="2733675"/>
            <a:ext cx="5249418" cy="5322570"/>
            <a:chOff x="0" y="0"/>
            <a:chExt cx="6999224" cy="7096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99224" cy="7096760"/>
            </a:xfrm>
            <a:custGeom>
              <a:avLst/>
              <a:gdLst/>
              <a:ahLst/>
              <a:cxnLst/>
              <a:rect r="r" b="b" t="t" l="l"/>
              <a:pathLst>
                <a:path h="7096760" w="6999224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6803517" y="0"/>
                  </a:lnTo>
                  <a:cubicBezTo>
                    <a:pt x="6911594" y="0"/>
                    <a:pt x="6999224" y="87630"/>
                    <a:pt x="6999224" y="195707"/>
                  </a:cubicBezTo>
                  <a:lnTo>
                    <a:pt x="6999224" y="6901053"/>
                  </a:lnTo>
                  <a:cubicBezTo>
                    <a:pt x="6999224" y="7009130"/>
                    <a:pt x="6911594" y="7096760"/>
                    <a:pt x="6803517" y="7096760"/>
                  </a:cubicBezTo>
                  <a:lnTo>
                    <a:pt x="195707" y="7096760"/>
                  </a:lnTo>
                  <a:cubicBezTo>
                    <a:pt x="87630" y="7096760"/>
                    <a:pt x="0" y="7009130"/>
                    <a:pt x="0" y="6901053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404855" y="3187703"/>
            <a:ext cx="939803" cy="939803"/>
            <a:chOff x="0" y="0"/>
            <a:chExt cx="1253071" cy="12530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F8F00"/>
            </a:solidFill>
            <a:ln w="25400" cap="sq">
              <a:solidFill>
                <a:srgbClr val="FF8F0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655296" y="3438144"/>
            <a:ext cx="438912" cy="438912"/>
            <a:chOff x="0" y="0"/>
            <a:chExt cx="585216" cy="585216"/>
          </a:xfrm>
        </p:grpSpPr>
        <p:sp>
          <p:nvSpPr>
            <p:cNvPr name="Freeform 37" id="37" descr="Ícono Código QR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606272" y="3200400"/>
            <a:ext cx="3291840" cy="914400"/>
            <a:chOff x="0" y="0"/>
            <a:chExt cx="43891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3891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Código QR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417552" y="4514850"/>
            <a:ext cx="4389120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Generado con ZXing en el pase de abordaje.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Incluye socio, vuelo, fecha y estado del consentimiento.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Arquitectura MVVM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4583" y="2730503"/>
            <a:ext cx="4780283" cy="939803"/>
            <a:chOff x="0" y="0"/>
            <a:chExt cx="6373711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737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637374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223381" y="0"/>
                  </a:lnTo>
                  <a:cubicBezTo>
                    <a:pt x="6306439" y="0"/>
                    <a:pt x="6373749" y="67310"/>
                    <a:pt x="6373749" y="150368"/>
                  </a:cubicBezTo>
                  <a:lnTo>
                    <a:pt x="6373749" y="1102741"/>
                  </a:lnTo>
                  <a:cubicBezTo>
                    <a:pt x="6373749" y="1185799"/>
                    <a:pt x="6306439" y="1253109"/>
                    <a:pt x="622338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743200"/>
            <a:ext cx="4754880" cy="914400"/>
            <a:chOff x="0" y="0"/>
            <a:chExt cx="633984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33984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Interfaz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3830955"/>
            <a:ext cx="4773930" cy="2945130"/>
            <a:chOff x="0" y="0"/>
            <a:chExt cx="6365240" cy="3926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652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63652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6168898" y="0"/>
                  </a:lnTo>
                  <a:cubicBezTo>
                    <a:pt x="6277356" y="0"/>
                    <a:pt x="6365240" y="87884"/>
                    <a:pt x="6365240" y="196342"/>
                  </a:cubicBezTo>
                  <a:lnTo>
                    <a:pt x="6365240" y="3730498"/>
                  </a:lnTo>
                  <a:cubicBezTo>
                    <a:pt x="6365240" y="3838956"/>
                    <a:pt x="6277356" y="3926840"/>
                    <a:pt x="61688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4023360"/>
            <a:ext cx="4206240" cy="2560320"/>
            <a:chOff x="0" y="0"/>
            <a:chExt cx="5608320" cy="3413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083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097" t="0" r="-2809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60832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ui/screen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ui/components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ui/navigation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ui/theme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52160" y="4663440"/>
            <a:ext cx="731520" cy="914400"/>
            <a:chOff x="0" y="0"/>
            <a:chExt cx="97536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97536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8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70983" y="2730503"/>
            <a:ext cx="4780283" cy="939803"/>
            <a:chOff x="0" y="0"/>
            <a:chExt cx="6373711" cy="12530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737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637374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223381" y="0"/>
                  </a:lnTo>
                  <a:cubicBezTo>
                    <a:pt x="6306439" y="0"/>
                    <a:pt x="6373749" y="67310"/>
                    <a:pt x="6373749" y="150368"/>
                  </a:cubicBezTo>
                  <a:lnTo>
                    <a:pt x="6373749" y="1102741"/>
                  </a:lnTo>
                  <a:cubicBezTo>
                    <a:pt x="6373749" y="1185799"/>
                    <a:pt x="6306439" y="1253109"/>
                    <a:pt x="622338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583680" y="2743200"/>
            <a:ext cx="4754880" cy="914400"/>
            <a:chOff x="0" y="0"/>
            <a:chExt cx="633984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33984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ViewModel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74155" y="3830955"/>
            <a:ext cx="4773930" cy="2945130"/>
            <a:chOff x="0" y="0"/>
            <a:chExt cx="6365240" cy="3926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652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63652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6168898" y="0"/>
                  </a:lnTo>
                  <a:cubicBezTo>
                    <a:pt x="6277356" y="0"/>
                    <a:pt x="6365240" y="87884"/>
                    <a:pt x="6365240" y="196342"/>
                  </a:cubicBezTo>
                  <a:lnTo>
                    <a:pt x="6365240" y="3730498"/>
                  </a:lnTo>
                  <a:cubicBezTo>
                    <a:pt x="6365240" y="3838956"/>
                    <a:pt x="6277356" y="3926840"/>
                    <a:pt x="61688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0" y="4023360"/>
            <a:ext cx="4206240" cy="2560320"/>
            <a:chOff x="0" y="0"/>
            <a:chExt cx="5608320" cy="3413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083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097" t="0" r="-2809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60832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LoginViewModel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RegisterViewModel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SesionViewModel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VuelosViewModel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38560" y="4663440"/>
            <a:ext cx="731520" cy="914400"/>
            <a:chOff x="0" y="0"/>
            <a:chExt cx="97536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97536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8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57383" y="2730503"/>
            <a:ext cx="4780283" cy="939803"/>
            <a:chOff x="0" y="0"/>
            <a:chExt cx="6373711" cy="12530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737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637374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223381" y="0"/>
                  </a:lnTo>
                  <a:cubicBezTo>
                    <a:pt x="6306439" y="0"/>
                    <a:pt x="6373749" y="67310"/>
                    <a:pt x="6373749" y="150368"/>
                  </a:cubicBezTo>
                  <a:lnTo>
                    <a:pt x="6373749" y="1102741"/>
                  </a:lnTo>
                  <a:cubicBezTo>
                    <a:pt x="6373749" y="1185799"/>
                    <a:pt x="6306439" y="1253109"/>
                    <a:pt x="6223381" y="1253109"/>
                  </a:cubicBezTo>
                  <a:lnTo>
                    <a:pt x="150368" y="1253109"/>
                  </a:lnTo>
                  <a:cubicBezTo>
                    <a:pt x="67310" y="1253109"/>
                    <a:pt x="0" y="1185799"/>
                    <a:pt x="0" y="1102741"/>
                  </a:cubicBezTo>
                  <a:close/>
                </a:path>
              </a:pathLst>
            </a:custGeom>
            <a:solidFill>
              <a:srgbClr val="1B7F3B"/>
            </a:solidFill>
            <a:ln w="25400" cap="sq">
              <a:solidFill>
                <a:srgbClr val="1B7F3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0080" y="2743200"/>
            <a:ext cx="4754880" cy="914400"/>
            <a:chOff x="0" y="0"/>
            <a:chExt cx="633984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633984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60555" y="3830955"/>
            <a:ext cx="4773930" cy="2945130"/>
            <a:chOff x="0" y="0"/>
            <a:chExt cx="6365240" cy="3926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65240" cy="3926840"/>
            </a:xfrm>
            <a:custGeom>
              <a:avLst/>
              <a:gdLst/>
              <a:ahLst/>
              <a:cxnLst/>
              <a:rect r="r" b="b" t="t" l="l"/>
              <a:pathLst>
                <a:path h="3926840" w="6365240">
                  <a:moveTo>
                    <a:pt x="0" y="196342"/>
                  </a:moveTo>
                  <a:cubicBezTo>
                    <a:pt x="0" y="87884"/>
                    <a:pt x="87884" y="0"/>
                    <a:pt x="196342" y="0"/>
                  </a:cubicBezTo>
                  <a:lnTo>
                    <a:pt x="6168898" y="0"/>
                  </a:lnTo>
                  <a:cubicBezTo>
                    <a:pt x="6277356" y="0"/>
                    <a:pt x="6365240" y="87884"/>
                    <a:pt x="6365240" y="196342"/>
                  </a:cubicBezTo>
                  <a:lnTo>
                    <a:pt x="6365240" y="3730498"/>
                  </a:lnTo>
                  <a:cubicBezTo>
                    <a:pt x="6365240" y="3838956"/>
                    <a:pt x="6277356" y="3926840"/>
                    <a:pt x="6168898" y="3926840"/>
                  </a:cubicBezTo>
                  <a:lnTo>
                    <a:pt x="196342" y="3926840"/>
                  </a:lnTo>
                  <a:cubicBezTo>
                    <a:pt x="87884" y="3926840"/>
                    <a:pt x="0" y="3838956"/>
                    <a:pt x="0" y="3730498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344400" y="4023360"/>
            <a:ext cx="4206240" cy="2560320"/>
            <a:chOff x="0" y="0"/>
            <a:chExt cx="5608320" cy="34137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083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097" t="0" r="-280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60832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Entidad, DAO y AppDatabase (Room)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VuelosFicticios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87755" y="7214235"/>
            <a:ext cx="15746730" cy="1939290"/>
            <a:chOff x="0" y="0"/>
            <a:chExt cx="20995640" cy="2585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995639" cy="2585720"/>
            </a:xfrm>
            <a:custGeom>
              <a:avLst/>
              <a:gdLst/>
              <a:ahLst/>
              <a:cxnLst/>
              <a:rect r="r" b="b" t="t" l="l"/>
              <a:pathLst>
                <a:path h="2585720" w="20995639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0847938" y="0"/>
                  </a:lnTo>
                  <a:cubicBezTo>
                    <a:pt x="20929600" y="0"/>
                    <a:pt x="20995639" y="66167"/>
                    <a:pt x="20995639" y="147701"/>
                  </a:cubicBezTo>
                  <a:lnTo>
                    <a:pt x="20995639" y="2438019"/>
                  </a:lnTo>
                  <a:cubicBezTo>
                    <a:pt x="20995639" y="2519680"/>
                    <a:pt x="20929473" y="2585720"/>
                    <a:pt x="20847938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FFF3E0"/>
            </a:solidFill>
            <a:ln w="19050" cap="sq">
              <a:solidFill>
                <a:srgbClr val="FFCC8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63040" y="7315200"/>
            <a:ext cx="14996160" cy="914400"/>
            <a:chOff x="0" y="0"/>
            <a:chExt cx="1999488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99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554" r="0" b="-26955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99948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C241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util/  </a:t>
              </a:r>
              <a:r>
                <a:rPr lang="en-US" sz="27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Validaciones · Seguridad (hash) · CorreoSmtp · CalendarioNativo · GeneradorQr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63040" y="8138160"/>
            <a:ext cx="14996160" cy="731520"/>
            <a:chOff x="0" y="0"/>
            <a:chExt cx="1999488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99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99948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 interfaz observa el estado del ViewModel y este consulta los datos.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Tecnologías utilizadas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2733675"/>
            <a:ext cx="5249418" cy="3128010"/>
            <a:chOff x="0" y="0"/>
            <a:chExt cx="6999224" cy="4170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50343" y="3096263"/>
            <a:ext cx="939803" cy="939803"/>
            <a:chOff x="0" y="0"/>
            <a:chExt cx="1253071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700784" y="3346704"/>
            <a:ext cx="438912" cy="438912"/>
            <a:chOff x="0" y="0"/>
            <a:chExt cx="585216" cy="585216"/>
          </a:xfrm>
        </p:grpSpPr>
        <p:sp>
          <p:nvSpPr>
            <p:cNvPr name="Freeform 17" id="17" descr="Ícono Kotlin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651760" y="3108960"/>
            <a:ext cx="3566160" cy="914400"/>
            <a:chOff x="0" y="0"/>
            <a:chExt cx="475488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7548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Kotlin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63040" y="4240530"/>
            <a:ext cx="45720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Lenguaje de toda la app.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19291" y="2733675"/>
            <a:ext cx="5249418" cy="3128010"/>
            <a:chOff x="0" y="0"/>
            <a:chExt cx="6999224" cy="41706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81879" y="3096263"/>
            <a:ext cx="939803" cy="939803"/>
            <a:chOff x="0" y="0"/>
            <a:chExt cx="1253071" cy="1253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132320" y="3346704"/>
            <a:ext cx="438912" cy="438912"/>
            <a:chOff x="0" y="0"/>
            <a:chExt cx="585216" cy="585216"/>
          </a:xfrm>
        </p:grpSpPr>
        <p:sp>
          <p:nvSpPr>
            <p:cNvPr name="Freeform 27" id="27" descr="Ícono Jetpack Compose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083296" y="3108960"/>
            <a:ext cx="3566160" cy="914400"/>
            <a:chOff x="0" y="0"/>
            <a:chExt cx="475488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7548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Jetpack Compose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894576" y="4240530"/>
            <a:ext cx="45720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Interfaz con Material 3.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950827" y="2733675"/>
            <a:ext cx="5249418" cy="3128010"/>
            <a:chOff x="0" y="0"/>
            <a:chExt cx="6999224" cy="4170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13415" y="3096263"/>
            <a:ext cx="939803" cy="939803"/>
            <a:chOff x="0" y="0"/>
            <a:chExt cx="1253071" cy="12530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563856" y="3346704"/>
            <a:ext cx="438912" cy="438912"/>
            <a:chOff x="0" y="0"/>
            <a:chExt cx="585216" cy="585216"/>
          </a:xfrm>
        </p:grpSpPr>
        <p:sp>
          <p:nvSpPr>
            <p:cNvPr name="Freeform 37" id="37" descr="Ícono Navigation Compose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514832" y="3108960"/>
            <a:ext cx="3566160" cy="914400"/>
            <a:chOff x="0" y="0"/>
            <a:chExt cx="475488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7548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Navigation Compose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326112" y="4240530"/>
            <a:ext cx="45720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Rutas entre las ocho pantallas.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87755" y="6116955"/>
            <a:ext cx="5249418" cy="3128010"/>
            <a:chOff x="0" y="0"/>
            <a:chExt cx="6999224" cy="4170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50343" y="6479543"/>
            <a:ext cx="939803" cy="939803"/>
            <a:chOff x="0" y="0"/>
            <a:chExt cx="1253071" cy="12530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700784" y="6729984"/>
            <a:ext cx="438912" cy="438912"/>
            <a:chOff x="0" y="0"/>
            <a:chExt cx="585216" cy="585216"/>
          </a:xfrm>
        </p:grpSpPr>
        <p:sp>
          <p:nvSpPr>
            <p:cNvPr name="Freeform 47" id="47" descr="Ícono Room + KSP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651760" y="6492240"/>
            <a:ext cx="3566160" cy="914400"/>
            <a:chOff x="0" y="0"/>
            <a:chExt cx="475488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7548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Room + KSP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463040" y="7623810"/>
            <a:ext cx="45720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Base de datos SQLite local.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519291" y="6116955"/>
            <a:ext cx="5249418" cy="3128010"/>
            <a:chOff x="0" y="0"/>
            <a:chExt cx="6999224" cy="41706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881879" y="6479543"/>
            <a:ext cx="939803" cy="939803"/>
            <a:chOff x="0" y="0"/>
            <a:chExt cx="1253071" cy="12530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132320" y="6729984"/>
            <a:ext cx="438912" cy="438912"/>
            <a:chOff x="0" y="0"/>
            <a:chExt cx="585216" cy="585216"/>
          </a:xfrm>
        </p:grpSpPr>
        <p:sp>
          <p:nvSpPr>
            <p:cNvPr name="Freeform 57" id="57" descr="Ícono ZXi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083296" y="6492240"/>
            <a:ext cx="3566160" cy="914400"/>
            <a:chOff x="0" y="0"/>
            <a:chExt cx="475488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7548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ZXing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894576" y="7623810"/>
            <a:ext cx="45720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Generación del código QR.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950827" y="6116955"/>
            <a:ext cx="5249418" cy="3128010"/>
            <a:chOff x="0" y="0"/>
            <a:chExt cx="6999224" cy="4170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99224" cy="4170680"/>
            </a:xfrm>
            <a:custGeom>
              <a:avLst/>
              <a:gdLst/>
              <a:ahLst/>
              <a:cxnLst/>
              <a:rect r="r" b="b" t="t" l="l"/>
              <a:pathLst>
                <a:path h="4170680" w="6999224">
                  <a:moveTo>
                    <a:pt x="0" y="196215"/>
                  </a:moveTo>
                  <a:cubicBezTo>
                    <a:pt x="0" y="87884"/>
                    <a:pt x="87884" y="0"/>
                    <a:pt x="196215" y="0"/>
                  </a:cubicBezTo>
                  <a:lnTo>
                    <a:pt x="6803009" y="0"/>
                  </a:lnTo>
                  <a:cubicBezTo>
                    <a:pt x="6911467" y="0"/>
                    <a:pt x="6999224" y="87884"/>
                    <a:pt x="6999224" y="196215"/>
                  </a:cubicBezTo>
                  <a:lnTo>
                    <a:pt x="6999224" y="3974465"/>
                  </a:lnTo>
                  <a:cubicBezTo>
                    <a:pt x="6999224" y="4082923"/>
                    <a:pt x="6911340" y="4170680"/>
                    <a:pt x="6803009" y="4170680"/>
                  </a:cubicBezTo>
                  <a:lnTo>
                    <a:pt x="196215" y="4170680"/>
                  </a:lnTo>
                  <a:cubicBezTo>
                    <a:pt x="87884" y="4170680"/>
                    <a:pt x="0" y="4082796"/>
                    <a:pt x="0" y="3974465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313415" y="6479543"/>
            <a:ext cx="939803" cy="939803"/>
            <a:chOff x="0" y="0"/>
            <a:chExt cx="1253071" cy="125307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563856" y="6729984"/>
            <a:ext cx="438912" cy="438912"/>
            <a:chOff x="0" y="0"/>
            <a:chExt cx="585216" cy="585216"/>
          </a:xfrm>
        </p:grpSpPr>
        <p:sp>
          <p:nvSpPr>
            <p:cNvPr name="Freeform 67" id="67" descr="Ícono JavaMail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514832" y="6492240"/>
            <a:ext cx="3566160" cy="914400"/>
            <a:chOff x="0" y="0"/>
            <a:chExt cx="475488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475488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JavaMail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326112" y="7623810"/>
            <a:ext cx="45720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Envío de correo por SMTP.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Seguridad y validaciones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2733675"/>
            <a:ext cx="6236970" cy="1847850"/>
            <a:chOff x="0" y="0"/>
            <a:chExt cx="8315960" cy="2463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15961" cy="2463800"/>
            </a:xfrm>
            <a:custGeom>
              <a:avLst/>
              <a:gdLst/>
              <a:ahLst/>
              <a:cxnLst/>
              <a:rect r="r" b="b" t="t" l="l"/>
              <a:pathLst>
                <a:path h="2463800" w="8315961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8118856" y="0"/>
                  </a:lnTo>
                  <a:cubicBezTo>
                    <a:pt x="8227695" y="0"/>
                    <a:pt x="8315961" y="88265"/>
                    <a:pt x="8315961" y="197104"/>
                  </a:cubicBezTo>
                  <a:lnTo>
                    <a:pt x="8315961" y="2266696"/>
                  </a:lnTo>
                  <a:cubicBezTo>
                    <a:pt x="8315961" y="2375535"/>
                    <a:pt x="8227695" y="2463800"/>
                    <a:pt x="8118856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834640"/>
            <a:ext cx="2834640" cy="1645920"/>
            <a:chOff x="0" y="0"/>
            <a:chExt cx="377952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7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498" t="0" r="-2449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77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8F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SHA-256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89120" y="2834640"/>
            <a:ext cx="2743200" cy="1645920"/>
            <a:chOff x="0" y="0"/>
            <a:chExt cx="365760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6576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Hash de la contraseña antes de guardarla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7755" y="4781931"/>
            <a:ext cx="6236970" cy="1847850"/>
            <a:chOff x="0" y="0"/>
            <a:chExt cx="8315960" cy="2463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15961" cy="2463800"/>
            </a:xfrm>
            <a:custGeom>
              <a:avLst/>
              <a:gdLst/>
              <a:ahLst/>
              <a:cxnLst/>
              <a:rect r="r" b="b" t="t" l="l"/>
              <a:pathLst>
                <a:path h="2463800" w="8315961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8118856" y="0"/>
                  </a:lnTo>
                  <a:cubicBezTo>
                    <a:pt x="8227695" y="0"/>
                    <a:pt x="8315961" y="88265"/>
                    <a:pt x="8315961" y="197104"/>
                  </a:cubicBezTo>
                  <a:lnTo>
                    <a:pt x="8315961" y="2266696"/>
                  </a:lnTo>
                  <a:cubicBezTo>
                    <a:pt x="8315961" y="2375535"/>
                    <a:pt x="8227695" y="2463800"/>
                    <a:pt x="8118856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4882896"/>
            <a:ext cx="2834640" cy="1645920"/>
            <a:chOff x="0" y="0"/>
            <a:chExt cx="377952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7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498" t="0" r="-2449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77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8F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6+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389120" y="4882896"/>
            <a:ext cx="2743200" cy="1645920"/>
            <a:chOff x="0" y="0"/>
            <a:chExt cx="365760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6576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Caracteres mínimos en la contraseña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755" y="6830187"/>
            <a:ext cx="6236970" cy="1847850"/>
            <a:chOff x="0" y="0"/>
            <a:chExt cx="8315960" cy="2463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15961" cy="2463800"/>
            </a:xfrm>
            <a:custGeom>
              <a:avLst/>
              <a:gdLst/>
              <a:ahLst/>
              <a:cxnLst/>
              <a:rect r="r" b="b" t="t" l="l"/>
              <a:pathLst>
                <a:path h="2463800" w="8315961">
                  <a:moveTo>
                    <a:pt x="0" y="197104"/>
                  </a:moveTo>
                  <a:cubicBezTo>
                    <a:pt x="0" y="88265"/>
                    <a:pt x="88265" y="0"/>
                    <a:pt x="197104" y="0"/>
                  </a:cubicBezTo>
                  <a:lnTo>
                    <a:pt x="8118856" y="0"/>
                  </a:lnTo>
                  <a:cubicBezTo>
                    <a:pt x="8227695" y="0"/>
                    <a:pt x="8315961" y="88265"/>
                    <a:pt x="8315961" y="197104"/>
                  </a:cubicBezTo>
                  <a:lnTo>
                    <a:pt x="8315961" y="2266696"/>
                  </a:lnTo>
                  <a:cubicBezTo>
                    <a:pt x="8315961" y="2375535"/>
                    <a:pt x="8227695" y="2463800"/>
                    <a:pt x="8118856" y="2463800"/>
                  </a:cubicBezTo>
                  <a:lnTo>
                    <a:pt x="197104" y="2463800"/>
                  </a:lnTo>
                  <a:cubicBezTo>
                    <a:pt x="88265" y="2463800"/>
                    <a:pt x="0" y="2375535"/>
                    <a:pt x="0" y="2266696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" y="6931152"/>
            <a:ext cx="2834640" cy="1645920"/>
            <a:chOff x="0" y="0"/>
            <a:chExt cx="377952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79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498" t="0" r="-2449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7795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8F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19.628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389120" y="6931152"/>
            <a:ext cx="2743200" cy="1645920"/>
            <a:chOff x="0" y="0"/>
            <a:chExt cx="3657600" cy="21945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6576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Ley de datos: solo vuelos ficticios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046720" y="2743200"/>
            <a:ext cx="8778240" cy="731520"/>
            <a:chOff x="0" y="0"/>
            <a:chExt cx="1170432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704320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170432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Validaciones en los formularios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046720" y="3590925"/>
            <a:ext cx="8778240" cy="518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Nombre completo con largo mínimo.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Correo con formato válido.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Contraseña de al menos 6 caracteres.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Confirmación que debe coincidir.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Ícono de advertencia o de campo válido.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Mensaje de error animado bajo cada campo.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Organización: tablero Trello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8220075"/>
            <a:ext cx="15746730" cy="1116330"/>
            <a:chOff x="0" y="0"/>
            <a:chExt cx="20995640" cy="1488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95639" cy="1488440"/>
            </a:xfrm>
            <a:custGeom>
              <a:avLst/>
              <a:gdLst/>
              <a:ahLst/>
              <a:cxnLst/>
              <a:rect r="r" b="b" t="t" l="l"/>
              <a:pathLst>
                <a:path h="1488440" w="20995639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0846796" y="0"/>
                  </a:lnTo>
                  <a:cubicBezTo>
                    <a:pt x="20928964" y="0"/>
                    <a:pt x="20995639" y="66675"/>
                    <a:pt x="20995639" y="148844"/>
                  </a:cubicBezTo>
                  <a:lnTo>
                    <a:pt x="20995639" y="1339596"/>
                  </a:lnTo>
                  <a:cubicBezTo>
                    <a:pt x="20995639" y="1421765"/>
                    <a:pt x="20928964" y="1488440"/>
                    <a:pt x="2084679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3E0"/>
            </a:solidFill>
            <a:ln w="19050" cap="sq">
              <a:solidFill>
                <a:srgbClr val="FFCC8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8503920"/>
            <a:ext cx="548640" cy="548640"/>
            <a:chOff x="0" y="0"/>
            <a:chExt cx="731520" cy="731520"/>
          </a:xfrm>
        </p:grpSpPr>
        <p:sp>
          <p:nvSpPr>
            <p:cNvPr name="Freeform 15" id="15" descr="GitHub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286000" y="8229600"/>
            <a:ext cx="14264640" cy="1097280"/>
            <a:chOff x="0" y="0"/>
            <a:chExt cx="190195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90195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GitHub: una rama por tarea y Pull Request revisado por el otro integrante.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13943" y="2161179"/>
            <a:ext cx="15198952" cy="5812630"/>
          </a:xfrm>
          <a:custGeom>
            <a:avLst/>
            <a:gdLst/>
            <a:ahLst/>
            <a:cxnLst/>
            <a:rect r="r" b="b" t="t" l="l"/>
            <a:pathLst>
              <a:path h="5812630" w="15198952">
                <a:moveTo>
                  <a:pt x="0" y="0"/>
                </a:moveTo>
                <a:lnTo>
                  <a:pt x="15198952" y="0"/>
                </a:lnTo>
                <a:lnTo>
                  <a:pt x="15198952" y="5812630"/>
                </a:lnTo>
                <a:lnTo>
                  <a:pt x="0" y="581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9456"/>
            <a:chOff x="0" y="0"/>
            <a:chExt cx="24384000" cy="292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048256"/>
            <a:ext cx="1645920" cy="109728"/>
            <a:chOff x="0" y="0"/>
            <a:chExt cx="219456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8F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9601200"/>
            <a:ext cx="9144000" cy="457200"/>
            <a:chOff x="0" y="0"/>
            <a:chExt cx="121920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CAPEBE · Aplicación Vuelos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48640"/>
            <a:ext cx="16093440" cy="1371600"/>
            <a:chOff x="0" y="0"/>
            <a:chExt cx="2145792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457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Próximos pasos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2733675"/>
            <a:ext cx="9528810" cy="5688330"/>
            <a:chOff x="0" y="0"/>
            <a:chExt cx="12705080" cy="7584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05080" cy="7584439"/>
            </a:xfrm>
            <a:custGeom>
              <a:avLst/>
              <a:gdLst/>
              <a:ahLst/>
              <a:cxnLst/>
              <a:rect r="r" b="b" t="t" l="l"/>
              <a:pathLst>
                <a:path h="7584439" w="12705080">
                  <a:moveTo>
                    <a:pt x="0" y="195707"/>
                  </a:moveTo>
                  <a:cubicBezTo>
                    <a:pt x="0" y="87630"/>
                    <a:pt x="87630" y="0"/>
                    <a:pt x="195707" y="0"/>
                  </a:cubicBezTo>
                  <a:lnTo>
                    <a:pt x="12509373" y="0"/>
                  </a:lnTo>
                  <a:cubicBezTo>
                    <a:pt x="12617450" y="0"/>
                    <a:pt x="12705080" y="87630"/>
                    <a:pt x="12705080" y="195707"/>
                  </a:cubicBezTo>
                  <a:lnTo>
                    <a:pt x="12705080" y="7388733"/>
                  </a:lnTo>
                  <a:cubicBezTo>
                    <a:pt x="12705080" y="7496810"/>
                    <a:pt x="12617450" y="7584439"/>
                    <a:pt x="12509373" y="7584439"/>
                  </a:cubicBezTo>
                  <a:lnTo>
                    <a:pt x="195707" y="7584439"/>
                  </a:lnTo>
                  <a:cubicBezTo>
                    <a:pt x="87630" y="7584440"/>
                    <a:pt x="0" y="7496810"/>
                    <a:pt x="0" y="7388733"/>
                  </a:cubicBezTo>
                  <a:close/>
                </a:path>
              </a:pathLst>
            </a:custGeom>
            <a:solidFill>
              <a:srgbClr val="EAF4FF"/>
            </a:solidFill>
            <a:ln w="19050" cap="sq">
              <a:solidFill>
                <a:srgbClr val="D6E4F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54480" y="3017520"/>
            <a:ext cx="8595360" cy="731520"/>
            <a:chOff x="0" y="0"/>
            <a:chExt cx="1146048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60480" cy="975360"/>
            </a:xfrm>
            <a:custGeom>
              <a:avLst/>
              <a:gdLst/>
              <a:ahLst/>
              <a:cxnLst/>
              <a:rect r="r" b="b" t="t" l="l"/>
              <a:pathLst>
                <a:path h="9753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460480" cy="975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B2A4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Pendiente para la entrega final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54480" y="3956685"/>
            <a:ext cx="8595360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Leer el código QR con la cámara (rol operador).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Crear el rol operador.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Conectar la app con un backend.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Guardar vuelo y consentimiento en Room.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Agregar pruebas unitarias.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051543" y="2730503"/>
            <a:ext cx="5786123" cy="5694683"/>
            <a:chOff x="0" y="0"/>
            <a:chExt cx="7714831" cy="75929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14742" cy="7592822"/>
            </a:xfrm>
            <a:custGeom>
              <a:avLst/>
              <a:gdLst/>
              <a:ahLst/>
              <a:cxnLst/>
              <a:rect r="r" b="b" t="t" l="l"/>
              <a:pathLst>
                <a:path h="7592822" w="7714742">
                  <a:moveTo>
                    <a:pt x="0" y="195961"/>
                  </a:moveTo>
                  <a:cubicBezTo>
                    <a:pt x="0" y="87757"/>
                    <a:pt x="87757" y="0"/>
                    <a:pt x="195961" y="0"/>
                  </a:cubicBezTo>
                  <a:lnTo>
                    <a:pt x="7518781" y="0"/>
                  </a:lnTo>
                  <a:cubicBezTo>
                    <a:pt x="7626985" y="0"/>
                    <a:pt x="7714742" y="87757"/>
                    <a:pt x="7714742" y="195961"/>
                  </a:cubicBezTo>
                  <a:lnTo>
                    <a:pt x="7714742" y="7396861"/>
                  </a:lnTo>
                  <a:cubicBezTo>
                    <a:pt x="7714742" y="7505065"/>
                    <a:pt x="7626985" y="7592822"/>
                    <a:pt x="7518781" y="7592822"/>
                  </a:cubicBezTo>
                  <a:lnTo>
                    <a:pt x="195961" y="7592822"/>
                  </a:lnTo>
                  <a:cubicBezTo>
                    <a:pt x="87757" y="7592949"/>
                    <a:pt x="0" y="7505192"/>
                    <a:pt x="0" y="7396988"/>
                  </a:cubicBezTo>
                  <a:close/>
                </a:path>
              </a:pathLst>
            </a:custGeom>
            <a:solidFill>
              <a:srgbClr val="0B2A4A"/>
            </a:solidFill>
            <a:ln w="25400" cap="sq">
              <a:solidFill>
                <a:srgbClr val="0B2A4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258800" y="3474720"/>
            <a:ext cx="1371600" cy="1371600"/>
            <a:chOff x="0" y="0"/>
            <a:chExt cx="1828800" cy="1828800"/>
          </a:xfrm>
        </p:grpSpPr>
        <p:sp>
          <p:nvSpPr>
            <p:cNvPr name="Freeform 21" id="21" descr="Avión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064240" y="5120640"/>
            <a:ext cx="5760720" cy="1097280"/>
            <a:chOff x="0" y="0"/>
            <a:chExt cx="768096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76809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20"/>
                </a:lnSpc>
              </a:pPr>
              <a:r>
                <a:rPr lang="en-US" sz="5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Gracias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064240" y="6217920"/>
            <a:ext cx="5760720" cy="822960"/>
            <a:chOff x="0" y="0"/>
            <a:chExt cx="768096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0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76809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B74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¿Preguntas?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550640" y="9608820"/>
            <a:ext cx="5486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DAHYl0K3kPs</dc:identifier>
  <dcterms:modified xsi:type="dcterms:W3CDTF">2011-08-01T06:04:30Z</dcterms:modified>
  <cp:revision>1</cp:revision>
  <dc:title>CAPEBE-Presentacion.pptx</dc:title>
</cp:coreProperties>
</file>