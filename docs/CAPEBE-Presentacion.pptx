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c6b15080-cefb-8dcb-d603-84f2b7d4b2f9}">
          <p14:sldIdLst>
            <p14:sldId id="256"/>
            <p14:sldId id="257"/>
          </p14:sldIdLst>
        </p14:section>
        <p14:section name="Producto" id="{a41a680b-1a9c-90e9-4cb5-039675964261}">
          <p14:sldIdLst>
            <p14:sldId id="258"/>
            <p14:sldId id="259"/>
            <p14:sldId id="260"/>
          </p14:sldIdLst>
        </p14:section>
        <p14:section name="Técnica" id="{d98c6c78-b29c-f949-b3ed-3b22eb7216ac}">
          <p14:sldIdLst>
            <p14:sldId id="261"/>
            <p14:sldId id="262"/>
            <p14:sldId id="263"/>
          </p14:sldIdLst>
        </p14:section>
        <p14:section name="Equipo" id="{28c354a7-52e3-c476-2673-89dab2afe614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proyecto: una app para que los socios del club reserven vuelos recreativos.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club necesita que el socio pueda reservar y presentarse con un pase digital.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son las seis funciones que cubre el rol socio.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completo: desde el registro hasta presentar el pase con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calendario usa la intención del sistema, por eso no pide permisos.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capa tiene una responsabilidad; las utilidades se comparten entre pantallas.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proyecto se compila con Gradle y se ejecuta en emulador.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reglas están centralizadas en el objeto Validaciones.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tareas se reparten entre los dos integrantes y se mueven en el tablero.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espacio para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chemeClr val="accent2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24128"/>
            <a:ext cx="822960" cy="54864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CAPEBE · Aplicación Vuelos</a:t>
            </a:r>
            <a:endParaRPr lang="en-US" sz="10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Ícono avión" descr="Av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640080" cy="640080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822960" y="16002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Aplicación Vuelos</a:t>
            </a:r>
            <a:endParaRPr lang="en-US" sz="4400" dirty="0"/>
          </a:p>
        </p:txBody>
      </p:sp>
      <p:sp>
        <p:nvSpPr>
          <p:cNvPr id="4" name="Subtítulo"/>
          <p:cNvSpPr txBox="1"/>
          <p:nvPr/>
        </p:nvSpPr>
        <p:spPr>
          <a:xfrm>
            <a:off x="822960" y="24688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B74D"/>
                </a:solidFill>
              </a:rPr>
              <a:t>Club Aéreo del Personal de BancoEstado · CAPEBE</a:t>
            </a:r>
            <a:endParaRPr lang="en-US" sz="2000" dirty="0"/>
          </a:p>
        </p:txBody>
      </p:sp>
      <p:sp>
        <p:nvSpPr>
          <p:cNvPr id="5" name="Línea"/>
          <p:cNvSpPr/>
          <p:nvPr/>
        </p:nvSpPr>
        <p:spPr>
          <a:xfrm>
            <a:off x="822960" y="3154680"/>
            <a:ext cx="1097280" cy="4572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Detalle"/>
          <p:cNvSpPr txBox="1"/>
          <p:nvPr/>
        </p:nvSpPr>
        <p:spPr>
          <a:xfrm>
            <a:off x="822960" y="33832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4F2"/>
                </a:solidFill>
              </a:rPr>
              <a:t>DSY1105 · Evaluación Parcial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6E4F2"/>
                </a:solidFill>
              </a:rPr>
              <a:t>App Android con Kotlin, Jetpack Compose y Material 3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Objetivo del proyecto</a:t>
            </a:r>
            <a:endParaRPr lang="en-US" sz="2800" dirty="0"/>
          </a:p>
        </p:txBody>
      </p:sp>
      <p:sp>
        <p:nvSpPr>
          <p:cNvPr id="3" name="Tarjeta 1"/>
          <p:cNvSpPr/>
          <p:nvPr/>
        </p:nvSpPr>
        <p:spPr>
          <a:xfrm>
            <a:off x="548640" y="1463040"/>
            <a:ext cx="2615184" cy="265176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4" name="Ícono Para quién fondo"/>
          <p:cNvSpPr/>
          <p:nvPr/>
        </p:nvSpPr>
        <p:spPr>
          <a:xfrm>
            <a:off x="777240" y="16916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Ícono Para quién" descr="Ícono Para quié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0512"/>
            <a:ext cx="219456" cy="219456"/>
          </a:xfrm>
          <a:prstGeom prst="rect">
            <a:avLst/>
          </a:prstGeom>
        </p:spPr>
      </p:pic>
      <p:sp>
        <p:nvSpPr>
          <p:cNvPr id="6" name="Título tarjeta 1"/>
          <p:cNvSpPr txBox="1"/>
          <p:nvPr/>
        </p:nvSpPr>
        <p:spPr>
          <a:xfrm>
            <a:off x="77724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 quién</a:t>
            </a:r>
            <a:endParaRPr lang="en-US" sz="1700" dirty="0"/>
          </a:p>
        </p:txBody>
      </p:sp>
      <p:sp>
        <p:nvSpPr>
          <p:cNvPr id="7" name="Texto tarjeta 1"/>
          <p:cNvSpPr txBox="1"/>
          <p:nvPr/>
        </p:nvSpPr>
        <p:spPr>
          <a:xfrm>
            <a:off x="777240" y="27432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Socios del Club Aéreo del Personal de BancoEstado (rol socio).</a:t>
            </a:r>
            <a:endParaRPr lang="en-US" sz="1400" dirty="0"/>
          </a:p>
        </p:txBody>
      </p:sp>
      <p:sp>
        <p:nvSpPr>
          <p:cNvPr id="8" name="Tarjeta 2"/>
          <p:cNvSpPr/>
          <p:nvPr/>
        </p:nvSpPr>
        <p:spPr>
          <a:xfrm>
            <a:off x="3264408" y="1463040"/>
            <a:ext cx="2615184" cy="265176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9" name="Ícono Qué resuelve fondo"/>
          <p:cNvSpPr/>
          <p:nvPr/>
        </p:nvSpPr>
        <p:spPr>
          <a:xfrm>
            <a:off x="3493008" y="16916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Ícono Qué resuelve" descr="Ícono Qué resuel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810512"/>
            <a:ext cx="219456" cy="219456"/>
          </a:xfrm>
          <a:prstGeom prst="rect">
            <a:avLst/>
          </a:prstGeom>
        </p:spPr>
      </p:pic>
      <p:sp>
        <p:nvSpPr>
          <p:cNvPr id="11" name="Título tarjeta 2"/>
          <p:cNvSpPr txBox="1"/>
          <p:nvPr/>
        </p:nvSpPr>
        <p:spPr>
          <a:xfrm>
            <a:off x="3493008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Qué resuelve</a:t>
            </a:r>
            <a:endParaRPr lang="en-US" sz="1700" dirty="0"/>
          </a:p>
        </p:txBody>
      </p:sp>
      <p:sp>
        <p:nvSpPr>
          <p:cNvPr id="12" name="Texto tarjeta 2"/>
          <p:cNvSpPr txBox="1"/>
          <p:nvPr/>
        </p:nvSpPr>
        <p:spPr>
          <a:xfrm>
            <a:off x="3493008" y="27432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Reservar un vuelo recreativo, firmar el consentimiento y llegar al aeródromo con su pase de abordaje.</a:t>
            </a:r>
            <a:endParaRPr lang="en-US" sz="1400" dirty="0"/>
          </a:p>
        </p:txBody>
      </p:sp>
      <p:sp>
        <p:nvSpPr>
          <p:cNvPr id="13" name="Tarjeta 3"/>
          <p:cNvSpPr/>
          <p:nvPr/>
        </p:nvSpPr>
        <p:spPr>
          <a:xfrm>
            <a:off x="5980176" y="1463040"/>
            <a:ext cx="2615184" cy="265176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14" name="Ícono Alcance fondo"/>
          <p:cNvSpPr/>
          <p:nvPr/>
        </p:nvSpPr>
        <p:spPr>
          <a:xfrm>
            <a:off x="6208776" y="16916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Ícono Alcance" descr="Ícono Alcan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810512"/>
            <a:ext cx="219456" cy="219456"/>
          </a:xfrm>
          <a:prstGeom prst="rect">
            <a:avLst/>
          </a:prstGeom>
        </p:spPr>
      </p:pic>
      <p:sp>
        <p:nvSpPr>
          <p:cNvPr id="16" name="Título tarjeta 3"/>
          <p:cNvSpPr txBox="1"/>
          <p:nvPr/>
        </p:nvSpPr>
        <p:spPr>
          <a:xfrm>
            <a:off x="6208776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Alcance</a:t>
            </a:r>
            <a:endParaRPr lang="en-US" sz="1700" dirty="0"/>
          </a:p>
        </p:txBody>
      </p:sp>
      <p:sp>
        <p:nvSpPr>
          <p:cNvPr id="17" name="Texto tarjeta 3"/>
          <p:cNvSpPr txBox="1"/>
          <p:nvPr/>
        </p:nvSpPr>
        <p:spPr>
          <a:xfrm>
            <a:off x="6208776" y="27432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Registro, login, vuelos, consentimiento y pase con QR. Datos guardados en el teléfono con Room.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Funcionalidades principales</a:t>
            </a:r>
            <a:endParaRPr lang="en-US" sz="2800" dirty="0"/>
          </a:p>
        </p:txBody>
      </p:sp>
      <p:sp>
        <p:nvSpPr>
          <p:cNvPr id="3" name="Función 1"/>
          <p:cNvSpPr/>
          <p:nvPr/>
        </p:nvSpPr>
        <p:spPr>
          <a:xfrm>
            <a:off x="548640" y="137160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4" name="Ícono Registro y login fondo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Ícono Registro y login" descr="Ícono Registro y 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673352"/>
            <a:ext cx="219456" cy="219456"/>
          </a:xfrm>
          <a:prstGeom prst="rect">
            <a:avLst/>
          </a:prstGeom>
        </p:spPr>
      </p:pic>
      <p:sp>
        <p:nvSpPr>
          <p:cNvPr id="6" name="Título función 1"/>
          <p:cNvSpPr txBox="1"/>
          <p:nvPr/>
        </p:nvSpPr>
        <p:spPr>
          <a:xfrm>
            <a:off x="132588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Registro y login</a:t>
            </a:r>
            <a:endParaRPr lang="en-US" sz="1400" dirty="0"/>
          </a:p>
        </p:txBody>
      </p:sp>
      <p:sp>
        <p:nvSpPr>
          <p:cNvPr id="7" name="Texto función 1"/>
          <p:cNvSpPr txBox="1"/>
          <p:nvPr/>
        </p:nvSpPr>
        <p:spPr>
          <a:xfrm>
            <a:off x="731520" y="21488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Formularios con ícono y mensaje de error por campo.</a:t>
            </a:r>
            <a:endParaRPr lang="en-US" sz="1250" dirty="0"/>
          </a:p>
        </p:txBody>
      </p:sp>
      <p:sp>
        <p:nvSpPr>
          <p:cNvPr id="8" name="Función 2"/>
          <p:cNvSpPr/>
          <p:nvPr/>
        </p:nvSpPr>
        <p:spPr>
          <a:xfrm>
            <a:off x="3264408" y="137160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9" name="Ícono Vuelos disponibles fondo"/>
          <p:cNvSpPr/>
          <p:nvPr/>
        </p:nvSpPr>
        <p:spPr>
          <a:xfrm>
            <a:off x="3447288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Ícono Vuelos disponibles" descr="Ícono Vuelos disponib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673352"/>
            <a:ext cx="219456" cy="219456"/>
          </a:xfrm>
          <a:prstGeom prst="rect">
            <a:avLst/>
          </a:prstGeom>
        </p:spPr>
      </p:pic>
      <p:sp>
        <p:nvSpPr>
          <p:cNvPr id="11" name="Título función 2"/>
          <p:cNvSpPr txBox="1"/>
          <p:nvPr/>
        </p:nvSpPr>
        <p:spPr>
          <a:xfrm>
            <a:off x="4041648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Vuelos disponibles</a:t>
            </a:r>
            <a:endParaRPr lang="en-US" sz="1400" dirty="0"/>
          </a:p>
        </p:txBody>
      </p:sp>
      <p:sp>
        <p:nvSpPr>
          <p:cNvPr id="12" name="Texto función 2"/>
          <p:cNvSpPr txBox="1"/>
          <p:nvPr/>
        </p:nvSpPr>
        <p:spPr>
          <a:xfrm>
            <a:off x="3447288" y="21488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Tarjetas por vuelo con filtro por fecha.</a:t>
            </a:r>
            <a:endParaRPr lang="en-US" sz="1250" dirty="0"/>
          </a:p>
        </p:txBody>
      </p:sp>
      <p:sp>
        <p:nvSpPr>
          <p:cNvPr id="13" name="Función 3"/>
          <p:cNvSpPr/>
          <p:nvPr/>
        </p:nvSpPr>
        <p:spPr>
          <a:xfrm>
            <a:off x="5980176" y="137160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14" name="Ícono Aceptar vuelo fondo"/>
          <p:cNvSpPr/>
          <p:nvPr/>
        </p:nvSpPr>
        <p:spPr>
          <a:xfrm>
            <a:off x="6163056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Ícono Aceptar vuelo" descr="Ícono Aceptar vuel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673352"/>
            <a:ext cx="219456" cy="219456"/>
          </a:xfrm>
          <a:prstGeom prst="rect">
            <a:avLst/>
          </a:prstGeom>
        </p:spPr>
      </p:pic>
      <p:sp>
        <p:nvSpPr>
          <p:cNvPr id="16" name="Título función 3"/>
          <p:cNvSpPr txBox="1"/>
          <p:nvPr/>
        </p:nvSpPr>
        <p:spPr>
          <a:xfrm>
            <a:off x="6757416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Aceptar vuelo</a:t>
            </a:r>
            <a:endParaRPr lang="en-US" sz="1400" dirty="0"/>
          </a:p>
        </p:txBody>
      </p:sp>
      <p:sp>
        <p:nvSpPr>
          <p:cNvPr id="17" name="Texto función 3"/>
          <p:cNvSpPr txBox="1"/>
          <p:nvPr/>
        </p:nvSpPr>
        <p:spPr>
          <a:xfrm>
            <a:off x="6163056" y="21488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Detalle del vuelo y confirmación por correo.</a:t>
            </a:r>
            <a:endParaRPr lang="en-US" sz="1250" dirty="0"/>
          </a:p>
        </p:txBody>
      </p:sp>
      <p:sp>
        <p:nvSpPr>
          <p:cNvPr id="18" name="Función 4"/>
          <p:cNvSpPr/>
          <p:nvPr/>
        </p:nvSpPr>
        <p:spPr>
          <a:xfrm>
            <a:off x="548640" y="306324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19" name="Ícono Consentimiento fondo"/>
          <p:cNvSpPr/>
          <p:nvPr/>
        </p:nvSpPr>
        <p:spPr>
          <a:xfrm>
            <a:off x="731520" y="32461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Ícono Consentimiento" descr="Ícono Consentimien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364992"/>
            <a:ext cx="219456" cy="219456"/>
          </a:xfrm>
          <a:prstGeom prst="rect">
            <a:avLst/>
          </a:prstGeom>
        </p:spPr>
      </p:pic>
      <p:sp>
        <p:nvSpPr>
          <p:cNvPr id="21" name="Título función 4"/>
          <p:cNvSpPr txBox="1"/>
          <p:nvPr/>
        </p:nvSpPr>
        <p:spPr>
          <a:xfrm>
            <a:off x="1325880" y="3246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Consentimiento</a:t>
            </a:r>
            <a:endParaRPr lang="en-US" sz="1400" dirty="0"/>
          </a:p>
        </p:txBody>
      </p:sp>
      <p:sp>
        <p:nvSpPr>
          <p:cNvPr id="22" name="Texto función 4"/>
          <p:cNvSpPr txBox="1"/>
          <p:nvPr/>
        </p:nvSpPr>
        <p:spPr>
          <a:xfrm>
            <a:off x="731520" y="38404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Estado PENDIENTE o FIRMADO con animación.</a:t>
            </a:r>
            <a:endParaRPr lang="en-US" sz="1250" dirty="0"/>
          </a:p>
        </p:txBody>
      </p:sp>
      <p:sp>
        <p:nvSpPr>
          <p:cNvPr id="23" name="Función 5"/>
          <p:cNvSpPr/>
          <p:nvPr/>
        </p:nvSpPr>
        <p:spPr>
          <a:xfrm>
            <a:off x="3264408" y="306324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24" name="Ícono Pase de abordaje fondo"/>
          <p:cNvSpPr/>
          <p:nvPr/>
        </p:nvSpPr>
        <p:spPr>
          <a:xfrm>
            <a:off x="3447288" y="32461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Ícono Pase de abordaje" descr="Ícono Pase de abordaj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3364992"/>
            <a:ext cx="219456" cy="219456"/>
          </a:xfrm>
          <a:prstGeom prst="rect">
            <a:avLst/>
          </a:prstGeom>
        </p:spPr>
      </p:pic>
      <p:sp>
        <p:nvSpPr>
          <p:cNvPr id="26" name="Título función 5"/>
          <p:cNvSpPr txBox="1"/>
          <p:nvPr/>
        </p:nvSpPr>
        <p:spPr>
          <a:xfrm>
            <a:off x="4041648" y="3246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Pase de abordaje</a:t>
            </a:r>
            <a:endParaRPr lang="en-US" sz="1400" dirty="0"/>
          </a:p>
        </p:txBody>
      </p:sp>
      <p:sp>
        <p:nvSpPr>
          <p:cNvPr id="27" name="Texto función 5"/>
          <p:cNvSpPr txBox="1"/>
          <p:nvPr/>
        </p:nvSpPr>
        <p:spPr>
          <a:xfrm>
            <a:off x="3447288" y="38404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Datos del socio y del vuelo con código QR.</a:t>
            </a:r>
            <a:endParaRPr lang="en-US" sz="1250" dirty="0"/>
          </a:p>
        </p:txBody>
      </p:sp>
      <p:sp>
        <p:nvSpPr>
          <p:cNvPr id="28" name="Función 6"/>
          <p:cNvSpPr/>
          <p:nvPr/>
        </p:nvSpPr>
        <p:spPr>
          <a:xfrm>
            <a:off x="5980176" y="306324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29" name="Ícono Datos locales fondo"/>
          <p:cNvSpPr/>
          <p:nvPr/>
        </p:nvSpPr>
        <p:spPr>
          <a:xfrm>
            <a:off x="6163056" y="32461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Ícono Datos locales" descr="Ícono Datos local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64992"/>
            <a:ext cx="219456" cy="219456"/>
          </a:xfrm>
          <a:prstGeom prst="rect">
            <a:avLst/>
          </a:prstGeom>
        </p:spPr>
      </p:pic>
      <p:sp>
        <p:nvSpPr>
          <p:cNvPr id="31" name="Título función 6"/>
          <p:cNvSpPr txBox="1"/>
          <p:nvPr/>
        </p:nvSpPr>
        <p:spPr>
          <a:xfrm>
            <a:off x="6757416" y="3246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 locales</a:t>
            </a:r>
            <a:endParaRPr lang="en-US" sz="1400" dirty="0"/>
          </a:p>
        </p:txBody>
      </p:sp>
      <p:sp>
        <p:nvSpPr>
          <p:cNvPr id="32" name="Texto función 6"/>
          <p:cNvSpPr txBox="1"/>
          <p:nvPr/>
        </p:nvSpPr>
        <p:spPr>
          <a:xfrm>
            <a:off x="6163056" y="38404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Usuarios guardados en Room (SQLite).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Flujo de la aplicación</a:t>
            </a:r>
            <a:endParaRPr lang="en-US" sz="2800" dirty="0"/>
          </a:p>
        </p:txBody>
      </p:sp>
      <p:sp>
        <p:nvSpPr>
          <p:cNvPr id="3" name="Paso 1"/>
          <p:cNvSpPr/>
          <p:nvPr/>
        </p:nvSpPr>
        <p:spPr>
          <a:xfrm>
            <a:off x="548640" y="137160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4" name="Número 1"/>
          <p:cNvSpPr/>
          <p:nvPr/>
        </p:nvSpPr>
        <p:spPr>
          <a:xfrm>
            <a:off x="685800" y="15087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o número 1"/>
          <p:cNvSpPr txBox="1"/>
          <p:nvPr/>
        </p:nvSpPr>
        <p:spPr>
          <a:xfrm>
            <a:off x="68580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ítulo paso 1"/>
          <p:cNvSpPr txBox="1"/>
          <p:nvPr/>
        </p:nvSpPr>
        <p:spPr>
          <a:xfrm>
            <a:off x="685800" y="1965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Registro</a:t>
            </a:r>
            <a:endParaRPr lang="en-US" sz="1300" dirty="0"/>
          </a:p>
        </p:txBody>
      </p:sp>
      <p:sp>
        <p:nvSpPr>
          <p:cNvPr id="7" name="Texto paso 1"/>
          <p:cNvSpPr txBox="1"/>
          <p:nvPr/>
        </p:nvSpPr>
        <p:spPr>
          <a:xfrm>
            <a:off x="685800" y="2286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El socio crea su cuenta.</a:t>
            </a:r>
            <a:endParaRPr lang="en-US" sz="1200" dirty="0"/>
          </a:p>
        </p:txBody>
      </p:sp>
      <p:sp>
        <p:nvSpPr>
          <p:cNvPr id="8" name="Paso 2"/>
          <p:cNvSpPr/>
          <p:nvPr/>
        </p:nvSpPr>
        <p:spPr>
          <a:xfrm>
            <a:off x="2606040" y="137160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9" name="Número 2"/>
          <p:cNvSpPr/>
          <p:nvPr/>
        </p:nvSpPr>
        <p:spPr>
          <a:xfrm>
            <a:off x="2743200" y="15087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o número 2"/>
          <p:cNvSpPr txBox="1"/>
          <p:nvPr/>
        </p:nvSpPr>
        <p:spPr>
          <a:xfrm>
            <a:off x="274320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ítulo paso 2"/>
          <p:cNvSpPr txBox="1"/>
          <p:nvPr/>
        </p:nvSpPr>
        <p:spPr>
          <a:xfrm>
            <a:off x="2743200" y="1965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Login</a:t>
            </a:r>
            <a:endParaRPr lang="en-US" sz="1300" dirty="0"/>
          </a:p>
        </p:txBody>
      </p:sp>
      <p:sp>
        <p:nvSpPr>
          <p:cNvPr id="12" name="Texto paso 2"/>
          <p:cNvSpPr txBox="1"/>
          <p:nvPr/>
        </p:nvSpPr>
        <p:spPr>
          <a:xfrm>
            <a:off x="2743200" y="2286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Entra con correo y contraseña.</a:t>
            </a:r>
            <a:endParaRPr lang="en-US" sz="1200" dirty="0"/>
          </a:p>
        </p:txBody>
      </p:sp>
      <p:sp>
        <p:nvSpPr>
          <p:cNvPr id="13" name="Paso 3"/>
          <p:cNvSpPr/>
          <p:nvPr/>
        </p:nvSpPr>
        <p:spPr>
          <a:xfrm>
            <a:off x="4663440" y="137160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14" name="Número 3"/>
          <p:cNvSpPr/>
          <p:nvPr/>
        </p:nvSpPr>
        <p:spPr>
          <a:xfrm>
            <a:off x="4800600" y="15087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o número 3"/>
          <p:cNvSpPr txBox="1"/>
          <p:nvPr/>
        </p:nvSpPr>
        <p:spPr>
          <a:xfrm>
            <a:off x="480060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ítulo paso 3"/>
          <p:cNvSpPr txBox="1"/>
          <p:nvPr/>
        </p:nvSpPr>
        <p:spPr>
          <a:xfrm>
            <a:off x="4800600" y="1965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Menú del socio</a:t>
            </a:r>
            <a:endParaRPr lang="en-US" sz="1300" dirty="0"/>
          </a:p>
        </p:txBody>
      </p:sp>
      <p:sp>
        <p:nvSpPr>
          <p:cNvPr id="17" name="Texto paso 3"/>
          <p:cNvSpPr txBox="1"/>
          <p:nvPr/>
        </p:nvSpPr>
        <p:spPr>
          <a:xfrm>
            <a:off x="4800600" y="2286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Reservar vuelo o ir al aeródromo.</a:t>
            </a:r>
            <a:endParaRPr lang="en-US" sz="1200" dirty="0"/>
          </a:p>
        </p:txBody>
      </p:sp>
      <p:sp>
        <p:nvSpPr>
          <p:cNvPr id="18" name="Paso 4"/>
          <p:cNvSpPr/>
          <p:nvPr/>
        </p:nvSpPr>
        <p:spPr>
          <a:xfrm>
            <a:off x="6720840" y="137160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19" name="Número 4"/>
          <p:cNvSpPr/>
          <p:nvPr/>
        </p:nvSpPr>
        <p:spPr>
          <a:xfrm>
            <a:off x="6858000" y="15087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o número 4"/>
          <p:cNvSpPr txBox="1"/>
          <p:nvPr/>
        </p:nvSpPr>
        <p:spPr>
          <a:xfrm>
            <a:off x="685800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ítulo paso 4"/>
          <p:cNvSpPr txBox="1"/>
          <p:nvPr/>
        </p:nvSpPr>
        <p:spPr>
          <a:xfrm>
            <a:off x="6858000" y="1965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Vuelos</a:t>
            </a:r>
            <a:endParaRPr lang="en-US" sz="1300" dirty="0"/>
          </a:p>
        </p:txBody>
      </p:sp>
      <p:sp>
        <p:nvSpPr>
          <p:cNvPr id="22" name="Texto paso 4"/>
          <p:cNvSpPr txBox="1"/>
          <p:nvPr/>
        </p:nvSpPr>
        <p:spPr>
          <a:xfrm>
            <a:off x="6858000" y="2286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Elige uno y filtra por fecha.</a:t>
            </a:r>
            <a:endParaRPr lang="en-US" sz="1200" dirty="0"/>
          </a:p>
        </p:txBody>
      </p:sp>
      <p:sp>
        <p:nvSpPr>
          <p:cNvPr id="23" name="Paso 5"/>
          <p:cNvSpPr/>
          <p:nvPr/>
        </p:nvSpPr>
        <p:spPr>
          <a:xfrm>
            <a:off x="548640" y="301752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24" name="Número 5"/>
          <p:cNvSpPr/>
          <p:nvPr/>
        </p:nvSpPr>
        <p:spPr>
          <a:xfrm>
            <a:off x="685800" y="315468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o número 5"/>
          <p:cNvSpPr txBox="1"/>
          <p:nvPr/>
        </p:nvSpPr>
        <p:spPr>
          <a:xfrm>
            <a:off x="68580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ítulo paso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Detalle y aceptar</a:t>
            </a:r>
            <a:endParaRPr lang="en-US" sz="1300" dirty="0"/>
          </a:p>
        </p:txBody>
      </p:sp>
      <p:sp>
        <p:nvSpPr>
          <p:cNvPr id="27" name="Texto paso 5"/>
          <p:cNvSpPr txBox="1"/>
          <p:nvPr/>
        </p:nvSpPr>
        <p:spPr>
          <a:xfrm>
            <a:off x="68580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Acepta y recibe el correo.</a:t>
            </a:r>
            <a:endParaRPr lang="en-US" sz="1200" dirty="0"/>
          </a:p>
        </p:txBody>
      </p:sp>
      <p:sp>
        <p:nvSpPr>
          <p:cNvPr id="28" name="Paso 6"/>
          <p:cNvSpPr/>
          <p:nvPr/>
        </p:nvSpPr>
        <p:spPr>
          <a:xfrm>
            <a:off x="2606040" y="301752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29" name="Número 6"/>
          <p:cNvSpPr/>
          <p:nvPr/>
        </p:nvSpPr>
        <p:spPr>
          <a:xfrm>
            <a:off x="2743200" y="315468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Texto número 6"/>
          <p:cNvSpPr txBox="1"/>
          <p:nvPr/>
        </p:nvSpPr>
        <p:spPr>
          <a:xfrm>
            <a:off x="274320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ítulo paso 6"/>
          <p:cNvSpPr txBox="1"/>
          <p:nvPr/>
        </p:nvSpPr>
        <p:spPr>
          <a:xfrm>
            <a:off x="2743200" y="3611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Consentimiento</a:t>
            </a:r>
            <a:endParaRPr lang="en-US" sz="1300" dirty="0"/>
          </a:p>
        </p:txBody>
      </p:sp>
      <p:sp>
        <p:nvSpPr>
          <p:cNvPr id="32" name="Texto paso 6"/>
          <p:cNvSpPr txBox="1"/>
          <p:nvPr/>
        </p:nvSpPr>
        <p:spPr>
          <a:xfrm>
            <a:off x="274320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Firma antes de volar.</a:t>
            </a:r>
            <a:endParaRPr lang="en-US" sz="1200" dirty="0"/>
          </a:p>
        </p:txBody>
      </p:sp>
      <p:sp>
        <p:nvSpPr>
          <p:cNvPr id="33" name="Paso 7"/>
          <p:cNvSpPr/>
          <p:nvPr/>
        </p:nvSpPr>
        <p:spPr>
          <a:xfrm>
            <a:off x="4663440" y="301752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34" name="Número 7"/>
          <p:cNvSpPr/>
          <p:nvPr/>
        </p:nvSpPr>
        <p:spPr>
          <a:xfrm>
            <a:off x="4800600" y="315468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5" name="Texto número 7"/>
          <p:cNvSpPr txBox="1"/>
          <p:nvPr/>
        </p:nvSpPr>
        <p:spPr>
          <a:xfrm>
            <a:off x="480060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ítulo paso 7"/>
          <p:cNvSpPr txBox="1"/>
          <p:nvPr/>
        </p:nvSpPr>
        <p:spPr>
          <a:xfrm>
            <a:off x="4800600" y="3611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Pase de abordaje</a:t>
            </a:r>
            <a:endParaRPr lang="en-US" sz="1300" dirty="0"/>
          </a:p>
        </p:txBody>
      </p:sp>
      <p:sp>
        <p:nvSpPr>
          <p:cNvPr id="37" name="Texto paso 7"/>
          <p:cNvSpPr txBox="1"/>
          <p:nvPr/>
        </p:nvSpPr>
        <p:spPr>
          <a:xfrm>
            <a:off x="480060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Muestra el QR en el aeródromo.</a:t>
            </a:r>
            <a:endParaRPr lang="en-US" sz="1200" dirty="0"/>
          </a:p>
        </p:txBody>
      </p:sp>
      <p:sp>
        <p:nvSpPr>
          <p:cNvPr id="38" name="Paso +"/>
          <p:cNvSpPr/>
          <p:nvPr/>
        </p:nvSpPr>
        <p:spPr>
          <a:xfrm>
            <a:off x="6720840" y="301752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39" name="Número +"/>
          <p:cNvSpPr/>
          <p:nvPr/>
        </p:nvSpPr>
        <p:spPr>
          <a:xfrm>
            <a:off x="6858000" y="315468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exto número +"/>
          <p:cNvSpPr txBox="1"/>
          <p:nvPr/>
        </p:nvSpPr>
        <p:spPr>
          <a:xfrm>
            <a:off x="685800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+</a:t>
            </a:r>
            <a:endParaRPr lang="en-US" sz="1400" dirty="0"/>
          </a:p>
        </p:txBody>
      </p:sp>
      <p:sp>
        <p:nvSpPr>
          <p:cNvPr id="41" name="Título paso +"/>
          <p:cNvSpPr txBox="1"/>
          <p:nvPr/>
        </p:nvSpPr>
        <p:spPr>
          <a:xfrm>
            <a:off x="6858000" y="3611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Recursos nativos</a:t>
            </a:r>
            <a:endParaRPr lang="en-US" sz="1300" dirty="0"/>
          </a:p>
        </p:txBody>
      </p:sp>
      <p:sp>
        <p:nvSpPr>
          <p:cNvPr id="42" name="Texto paso +"/>
          <p:cNvSpPr txBox="1"/>
          <p:nvPr/>
        </p:nvSpPr>
        <p:spPr>
          <a:xfrm>
            <a:off x="685800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Calendario, correo y QR.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Recursos nativos del dispositivo</a:t>
            </a:r>
            <a:endParaRPr lang="en-US" sz="2800" dirty="0"/>
          </a:p>
        </p:txBody>
      </p:sp>
      <p:sp>
        <p:nvSpPr>
          <p:cNvPr id="3" name="Recurso Calendario"/>
          <p:cNvSpPr/>
          <p:nvPr/>
        </p:nvSpPr>
        <p:spPr>
          <a:xfrm>
            <a:off x="548640" y="1371600"/>
            <a:ext cx="2615184" cy="265176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4" name="Ícono Calendario fondo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Ícono Calendario" descr="Ícono Calendar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19072"/>
            <a:ext cx="219456" cy="219456"/>
          </a:xfrm>
          <a:prstGeom prst="rect">
            <a:avLst/>
          </a:prstGeom>
        </p:spPr>
      </p:pic>
      <p:sp>
        <p:nvSpPr>
          <p:cNvPr id="6" name="Título Calendario"/>
          <p:cNvSpPr txBox="1"/>
          <p:nvPr/>
        </p:nvSpPr>
        <p:spPr>
          <a:xfrm>
            <a:off x="1371600" y="1600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Calendario</a:t>
            </a:r>
            <a:endParaRPr lang="en-US" sz="1700" dirty="0"/>
          </a:p>
        </p:txBody>
      </p:sp>
      <p:sp>
        <p:nvSpPr>
          <p:cNvPr id="7" name="Lista Calendario"/>
          <p:cNvSpPr txBox="1"/>
          <p:nvPr/>
        </p:nvSpPr>
        <p:spPr>
          <a:xfrm>
            <a:off x="777240" y="228600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DatePicker para filtrar vuelos por fecha.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Agendar el vuelo en el calendario del teléfono con título, lugar y hora.</a:t>
            </a:r>
            <a:endParaRPr lang="en-US" sz="1300" dirty="0"/>
          </a:p>
        </p:txBody>
      </p:sp>
      <p:sp>
        <p:nvSpPr>
          <p:cNvPr id="8" name="Recurso Correo"/>
          <p:cNvSpPr/>
          <p:nvPr/>
        </p:nvSpPr>
        <p:spPr>
          <a:xfrm>
            <a:off x="3264408" y="1371600"/>
            <a:ext cx="2615184" cy="265176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9" name="Ícono Correo fondo"/>
          <p:cNvSpPr/>
          <p:nvPr/>
        </p:nvSpPr>
        <p:spPr>
          <a:xfrm>
            <a:off x="3493008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Ícono Correo" descr="Ícono Corr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719072"/>
            <a:ext cx="219456" cy="219456"/>
          </a:xfrm>
          <a:prstGeom prst="rect">
            <a:avLst/>
          </a:prstGeom>
        </p:spPr>
      </p:pic>
      <p:sp>
        <p:nvSpPr>
          <p:cNvPr id="11" name="Título Correo"/>
          <p:cNvSpPr txBox="1"/>
          <p:nvPr/>
        </p:nvSpPr>
        <p:spPr>
          <a:xfrm>
            <a:off x="4087368" y="1600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Correo</a:t>
            </a:r>
            <a:endParaRPr lang="en-US" sz="1700" dirty="0"/>
          </a:p>
        </p:txBody>
      </p:sp>
      <p:sp>
        <p:nvSpPr>
          <p:cNvPr id="12" name="Lista Correo"/>
          <p:cNvSpPr txBox="1"/>
          <p:nvPr/>
        </p:nvSpPr>
        <p:spPr>
          <a:xfrm>
            <a:off x="3493008" y="228600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Confirmación enviada al aceptar el vuelo.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 el código QR adjunto como imagen.</a:t>
            </a:r>
            <a:endParaRPr lang="en-US" sz="1300" dirty="0"/>
          </a:p>
        </p:txBody>
      </p:sp>
      <p:sp>
        <p:nvSpPr>
          <p:cNvPr id="13" name="Recurso Código QR"/>
          <p:cNvSpPr/>
          <p:nvPr/>
        </p:nvSpPr>
        <p:spPr>
          <a:xfrm>
            <a:off x="5980176" y="1371600"/>
            <a:ext cx="2615184" cy="265176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14" name="Ícono Código QR fondo"/>
          <p:cNvSpPr/>
          <p:nvPr/>
        </p:nvSpPr>
        <p:spPr>
          <a:xfrm>
            <a:off x="6208776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Ícono Código QR" descr="Ícono Código Q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719072"/>
            <a:ext cx="219456" cy="219456"/>
          </a:xfrm>
          <a:prstGeom prst="rect">
            <a:avLst/>
          </a:prstGeom>
        </p:spPr>
      </p:pic>
      <p:sp>
        <p:nvSpPr>
          <p:cNvPr id="16" name="Título Código QR"/>
          <p:cNvSpPr txBox="1"/>
          <p:nvPr/>
        </p:nvSpPr>
        <p:spPr>
          <a:xfrm>
            <a:off x="6803136" y="1600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Código QR</a:t>
            </a:r>
            <a:endParaRPr lang="en-US" sz="1700" dirty="0"/>
          </a:p>
        </p:txBody>
      </p:sp>
      <p:sp>
        <p:nvSpPr>
          <p:cNvPr id="17" name="Lista Código QR"/>
          <p:cNvSpPr txBox="1"/>
          <p:nvPr/>
        </p:nvSpPr>
        <p:spPr>
          <a:xfrm>
            <a:off x="6208776" y="228600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Generado con ZXing en el pase de abordaje.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Incluye socio, vuelo, fecha y estado del consentimiento.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Arquitectura MVVM</a:t>
            </a:r>
            <a:endParaRPr lang="en-US" sz="2800" dirty="0"/>
          </a:p>
        </p:txBody>
      </p:sp>
      <p:sp>
        <p:nvSpPr>
          <p:cNvPr id="3" name="Cabecera Interfaz"/>
          <p:cNvSpPr/>
          <p:nvPr/>
        </p:nvSpPr>
        <p:spPr>
          <a:xfrm>
            <a:off x="548640" y="1371600"/>
            <a:ext cx="2377440" cy="4572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ítulo Interfaz"/>
          <p:cNvSpPr txBox="1"/>
          <p:nvPr/>
        </p:nvSpPr>
        <p:spPr>
          <a:xfrm>
            <a:off x="548640" y="1371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Interfaz</a:t>
            </a:r>
            <a:endParaRPr lang="en-US" sz="1500" dirty="0"/>
          </a:p>
        </p:txBody>
      </p:sp>
      <p:sp>
        <p:nvSpPr>
          <p:cNvPr id="5" name="Cuerpo Interfaz"/>
          <p:cNvSpPr/>
          <p:nvPr/>
        </p:nvSpPr>
        <p:spPr>
          <a:xfrm>
            <a:off x="548640" y="1920240"/>
            <a:ext cx="23774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6" name="Texto Interfaz"/>
          <p:cNvSpPr txBox="1"/>
          <p:nvPr/>
        </p:nvSpPr>
        <p:spPr>
          <a:xfrm>
            <a:off x="685800" y="20116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ui/screen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ui/components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ui/navigation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ui/theme</a:t>
            </a:r>
            <a:endParaRPr lang="en-US" sz="1250" dirty="0"/>
          </a:p>
        </p:txBody>
      </p:sp>
      <p:sp>
        <p:nvSpPr>
          <p:cNvPr id="7" name="Flecha 1"/>
          <p:cNvSpPr txBox="1"/>
          <p:nvPr/>
        </p:nvSpPr>
        <p:spPr>
          <a:xfrm>
            <a:off x="2926080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8" name="Cabecera ViewModel"/>
          <p:cNvSpPr/>
          <p:nvPr/>
        </p:nvSpPr>
        <p:spPr>
          <a:xfrm>
            <a:off x="3291840" y="1371600"/>
            <a:ext cx="237744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ítulo ViewModel"/>
          <p:cNvSpPr txBox="1"/>
          <p:nvPr/>
        </p:nvSpPr>
        <p:spPr>
          <a:xfrm>
            <a:off x="3291840" y="1371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ViewModel</a:t>
            </a:r>
            <a:endParaRPr lang="en-US" sz="1500" dirty="0"/>
          </a:p>
        </p:txBody>
      </p:sp>
      <p:sp>
        <p:nvSpPr>
          <p:cNvPr id="10" name="Cuerpo ViewModel"/>
          <p:cNvSpPr/>
          <p:nvPr/>
        </p:nvSpPr>
        <p:spPr>
          <a:xfrm>
            <a:off x="3291840" y="1920240"/>
            <a:ext cx="23774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11" name="Texto ViewModel"/>
          <p:cNvSpPr txBox="1"/>
          <p:nvPr/>
        </p:nvSpPr>
        <p:spPr>
          <a:xfrm>
            <a:off x="3429000" y="20116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LoginViewModel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RegisterViewModel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SesionViewModel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VuelosViewModel</a:t>
            </a:r>
            <a:endParaRPr lang="en-US" sz="1250" dirty="0"/>
          </a:p>
        </p:txBody>
      </p:sp>
      <p:sp>
        <p:nvSpPr>
          <p:cNvPr id="12" name="Flecha 2"/>
          <p:cNvSpPr txBox="1"/>
          <p:nvPr/>
        </p:nvSpPr>
        <p:spPr>
          <a:xfrm>
            <a:off x="5669280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Cabecera Datos"/>
          <p:cNvSpPr/>
          <p:nvPr/>
        </p:nvSpPr>
        <p:spPr>
          <a:xfrm>
            <a:off x="6035040" y="1371600"/>
            <a:ext cx="2377440" cy="4572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ítulo Datos"/>
          <p:cNvSpPr txBox="1"/>
          <p:nvPr/>
        </p:nvSpPr>
        <p:spPr>
          <a:xfrm>
            <a:off x="6035040" y="1371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</a:t>
            </a:r>
            <a:endParaRPr lang="en-US" sz="1500" dirty="0"/>
          </a:p>
        </p:txBody>
      </p:sp>
      <p:sp>
        <p:nvSpPr>
          <p:cNvPr id="15" name="Cuerpo Datos"/>
          <p:cNvSpPr/>
          <p:nvPr/>
        </p:nvSpPr>
        <p:spPr>
          <a:xfrm>
            <a:off x="6035040" y="1920240"/>
            <a:ext cx="23774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16" name="Texto Datos"/>
          <p:cNvSpPr txBox="1"/>
          <p:nvPr/>
        </p:nvSpPr>
        <p:spPr>
          <a:xfrm>
            <a:off x="6172200" y="20116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Entidad, DAO y AppDatabase (Room)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VuelosFicticios</a:t>
            </a:r>
            <a:endParaRPr lang="en-US" sz="1250" dirty="0"/>
          </a:p>
        </p:txBody>
      </p:sp>
      <p:sp>
        <p:nvSpPr>
          <p:cNvPr id="17" name="Franja util"/>
          <p:cNvSpPr/>
          <p:nvPr/>
        </p:nvSpPr>
        <p:spPr>
          <a:xfrm>
            <a:off x="548640" y="3611880"/>
            <a:ext cx="7863840" cy="960120"/>
          </a:xfrm>
          <a:prstGeom prst="roundRect">
            <a:avLst>
              <a:gd name="adj" fmla="val 5714"/>
            </a:avLst>
          </a:prstGeom>
          <a:solidFill>
            <a:srgbClr val="FFF3E0"/>
          </a:solidFill>
          <a:ln w="9525">
            <a:solidFill>
              <a:srgbClr val="FFCC80"/>
            </a:solidFill>
            <a:prstDash val="solid"/>
          </a:ln>
        </p:spPr>
      </p:sp>
      <p:sp>
        <p:nvSpPr>
          <p:cNvPr id="18" name="Texto util"/>
          <p:cNvSpPr txBox="1"/>
          <p:nvPr/>
        </p:nvSpPr>
        <p:spPr>
          <a:xfrm>
            <a:off x="731520" y="36576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util/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Validaciones · Seguridad (hash) · CorreoSmtp · CalendarioNativo · GeneradorQr</a:t>
            </a:r>
            <a:endParaRPr lang="en-US" sz="1400" dirty="0"/>
          </a:p>
        </p:txBody>
      </p:sp>
      <p:sp>
        <p:nvSpPr>
          <p:cNvPr id="19" name="Nota util"/>
          <p:cNvSpPr txBox="1"/>
          <p:nvPr/>
        </p:nvSpPr>
        <p:spPr>
          <a:xfrm>
            <a:off x="731520" y="40690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interfaz observa el estado del ViewModel y este consulta los datos.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Tecnologías utilizadas</a:t>
            </a:r>
            <a:endParaRPr lang="en-US" sz="2800" dirty="0"/>
          </a:p>
        </p:txBody>
      </p:sp>
      <p:sp>
        <p:nvSpPr>
          <p:cNvPr id="3" name="Tecnología Kotlin"/>
          <p:cNvSpPr/>
          <p:nvPr/>
        </p:nvSpPr>
        <p:spPr>
          <a:xfrm>
            <a:off x="548640" y="137160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4" name="Ícono Kotlin fondo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Ícono Kotlin" descr="Ícono Kotl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673352"/>
            <a:ext cx="219456" cy="219456"/>
          </a:xfrm>
          <a:prstGeom prst="rect">
            <a:avLst/>
          </a:prstGeom>
        </p:spPr>
      </p:pic>
      <p:sp>
        <p:nvSpPr>
          <p:cNvPr id="6" name="Título Kotlin"/>
          <p:cNvSpPr txBox="1"/>
          <p:nvPr/>
        </p:nvSpPr>
        <p:spPr>
          <a:xfrm>
            <a:off x="1325880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Kotlin</a:t>
            </a:r>
            <a:endParaRPr lang="en-US" sz="1400" dirty="0"/>
          </a:p>
        </p:txBody>
      </p:sp>
      <p:sp>
        <p:nvSpPr>
          <p:cNvPr id="7" name="Texto Kotlin"/>
          <p:cNvSpPr txBox="1"/>
          <p:nvPr/>
        </p:nvSpPr>
        <p:spPr>
          <a:xfrm>
            <a:off x="731520" y="2148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Lenguaje de toda la app.</a:t>
            </a:r>
            <a:endParaRPr lang="en-US" sz="1300" dirty="0"/>
          </a:p>
        </p:txBody>
      </p:sp>
      <p:sp>
        <p:nvSpPr>
          <p:cNvPr id="8" name="Tecnología Jetpack Compose"/>
          <p:cNvSpPr/>
          <p:nvPr/>
        </p:nvSpPr>
        <p:spPr>
          <a:xfrm>
            <a:off x="3264408" y="137160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9" name="Ícono Jetpack Compose fondo"/>
          <p:cNvSpPr/>
          <p:nvPr/>
        </p:nvSpPr>
        <p:spPr>
          <a:xfrm>
            <a:off x="3447288" y="15544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0" name="Ícono Jetpack Compose" descr="Ícono Jetpack Compo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673352"/>
            <a:ext cx="219456" cy="219456"/>
          </a:xfrm>
          <a:prstGeom prst="rect">
            <a:avLst/>
          </a:prstGeom>
        </p:spPr>
      </p:pic>
      <p:sp>
        <p:nvSpPr>
          <p:cNvPr id="11" name="Título Jetpack Compose"/>
          <p:cNvSpPr txBox="1"/>
          <p:nvPr/>
        </p:nvSpPr>
        <p:spPr>
          <a:xfrm>
            <a:off x="4041648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Jetpack Compose</a:t>
            </a:r>
            <a:endParaRPr lang="en-US" sz="1400" dirty="0"/>
          </a:p>
        </p:txBody>
      </p:sp>
      <p:sp>
        <p:nvSpPr>
          <p:cNvPr id="12" name="Texto Jetpack Compose"/>
          <p:cNvSpPr txBox="1"/>
          <p:nvPr/>
        </p:nvSpPr>
        <p:spPr>
          <a:xfrm>
            <a:off x="3447288" y="2148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Interfaz con Material 3.</a:t>
            </a:r>
            <a:endParaRPr lang="en-US" sz="1300" dirty="0"/>
          </a:p>
        </p:txBody>
      </p:sp>
      <p:sp>
        <p:nvSpPr>
          <p:cNvPr id="13" name="Tecnología Navigation Compose"/>
          <p:cNvSpPr/>
          <p:nvPr/>
        </p:nvSpPr>
        <p:spPr>
          <a:xfrm>
            <a:off x="5980176" y="137160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14" name="Ícono Navigation Compose fondo"/>
          <p:cNvSpPr/>
          <p:nvPr/>
        </p:nvSpPr>
        <p:spPr>
          <a:xfrm>
            <a:off x="6163056" y="15544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5" name="Ícono Navigation Compose" descr="Ícono Navigation Compo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673352"/>
            <a:ext cx="219456" cy="219456"/>
          </a:xfrm>
          <a:prstGeom prst="rect">
            <a:avLst/>
          </a:prstGeom>
        </p:spPr>
      </p:pic>
      <p:sp>
        <p:nvSpPr>
          <p:cNvPr id="16" name="Título Navigation Compose"/>
          <p:cNvSpPr txBox="1"/>
          <p:nvPr/>
        </p:nvSpPr>
        <p:spPr>
          <a:xfrm>
            <a:off x="6757416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Navigation Compose</a:t>
            </a:r>
            <a:endParaRPr lang="en-US" sz="1400" dirty="0"/>
          </a:p>
        </p:txBody>
      </p:sp>
      <p:sp>
        <p:nvSpPr>
          <p:cNvPr id="17" name="Texto Navigation Compose"/>
          <p:cNvSpPr txBox="1"/>
          <p:nvPr/>
        </p:nvSpPr>
        <p:spPr>
          <a:xfrm>
            <a:off x="6163056" y="2148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Rutas entre las ocho pantallas.</a:t>
            </a:r>
            <a:endParaRPr lang="en-US" sz="1300" dirty="0"/>
          </a:p>
        </p:txBody>
      </p:sp>
      <p:sp>
        <p:nvSpPr>
          <p:cNvPr id="18" name="Tecnología Room + KSP"/>
          <p:cNvSpPr/>
          <p:nvPr/>
        </p:nvSpPr>
        <p:spPr>
          <a:xfrm>
            <a:off x="548640" y="306324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19" name="Ícono Room + KSP fondo"/>
          <p:cNvSpPr/>
          <p:nvPr/>
        </p:nvSpPr>
        <p:spPr>
          <a:xfrm>
            <a:off x="731520" y="324612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Ícono Room + KSP" descr="Ícono Room + KS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364992"/>
            <a:ext cx="219456" cy="219456"/>
          </a:xfrm>
          <a:prstGeom prst="rect">
            <a:avLst/>
          </a:prstGeom>
        </p:spPr>
      </p:pic>
      <p:sp>
        <p:nvSpPr>
          <p:cNvPr id="21" name="Título Room + KSP"/>
          <p:cNvSpPr txBox="1"/>
          <p:nvPr/>
        </p:nvSpPr>
        <p:spPr>
          <a:xfrm>
            <a:off x="1325880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Room + KSP</a:t>
            </a:r>
            <a:endParaRPr lang="en-US" sz="1400" dirty="0"/>
          </a:p>
        </p:txBody>
      </p:sp>
      <p:sp>
        <p:nvSpPr>
          <p:cNvPr id="22" name="Texto Room + KSP"/>
          <p:cNvSpPr txBox="1"/>
          <p:nvPr/>
        </p:nvSpPr>
        <p:spPr>
          <a:xfrm>
            <a:off x="731520" y="3840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Base de datos SQLite local.</a:t>
            </a:r>
            <a:endParaRPr lang="en-US" sz="1300" dirty="0"/>
          </a:p>
        </p:txBody>
      </p:sp>
      <p:sp>
        <p:nvSpPr>
          <p:cNvPr id="23" name="Tecnología ZXing"/>
          <p:cNvSpPr/>
          <p:nvPr/>
        </p:nvSpPr>
        <p:spPr>
          <a:xfrm>
            <a:off x="3264408" y="306324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24" name="Ícono ZXing fondo"/>
          <p:cNvSpPr/>
          <p:nvPr/>
        </p:nvSpPr>
        <p:spPr>
          <a:xfrm>
            <a:off x="3447288" y="324612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5" name="Ícono ZXing" descr="Ícono ZX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3364992"/>
            <a:ext cx="219456" cy="219456"/>
          </a:xfrm>
          <a:prstGeom prst="rect">
            <a:avLst/>
          </a:prstGeom>
        </p:spPr>
      </p:pic>
      <p:sp>
        <p:nvSpPr>
          <p:cNvPr id="26" name="Título ZXing"/>
          <p:cNvSpPr txBox="1"/>
          <p:nvPr/>
        </p:nvSpPr>
        <p:spPr>
          <a:xfrm>
            <a:off x="4041648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ZXing</a:t>
            </a:r>
            <a:endParaRPr lang="en-US" sz="1400" dirty="0"/>
          </a:p>
        </p:txBody>
      </p:sp>
      <p:sp>
        <p:nvSpPr>
          <p:cNvPr id="27" name="Texto ZXing"/>
          <p:cNvSpPr txBox="1"/>
          <p:nvPr/>
        </p:nvSpPr>
        <p:spPr>
          <a:xfrm>
            <a:off x="3447288" y="3840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Generación del código QR.</a:t>
            </a:r>
            <a:endParaRPr lang="en-US" sz="1300" dirty="0"/>
          </a:p>
        </p:txBody>
      </p:sp>
      <p:sp>
        <p:nvSpPr>
          <p:cNvPr id="28" name="Tecnología JavaMail"/>
          <p:cNvSpPr/>
          <p:nvPr/>
        </p:nvSpPr>
        <p:spPr>
          <a:xfrm>
            <a:off x="5980176" y="306324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29" name="Ícono JavaMail fondo"/>
          <p:cNvSpPr/>
          <p:nvPr/>
        </p:nvSpPr>
        <p:spPr>
          <a:xfrm>
            <a:off x="6163056" y="324612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0" name="Ícono JavaMail" descr="Ícono JavaMa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64992"/>
            <a:ext cx="219456" cy="219456"/>
          </a:xfrm>
          <a:prstGeom prst="rect">
            <a:avLst/>
          </a:prstGeom>
        </p:spPr>
      </p:pic>
      <p:sp>
        <p:nvSpPr>
          <p:cNvPr id="31" name="Título JavaMail"/>
          <p:cNvSpPr txBox="1"/>
          <p:nvPr/>
        </p:nvSpPr>
        <p:spPr>
          <a:xfrm>
            <a:off x="6757416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JavaMail</a:t>
            </a:r>
            <a:endParaRPr lang="en-US" sz="1400" dirty="0"/>
          </a:p>
        </p:txBody>
      </p:sp>
      <p:sp>
        <p:nvSpPr>
          <p:cNvPr id="32" name="Texto JavaMail"/>
          <p:cNvSpPr txBox="1"/>
          <p:nvPr/>
        </p:nvSpPr>
        <p:spPr>
          <a:xfrm>
            <a:off x="6163056" y="3840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Envío de correo por SMTP.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Seguridad y validaciones</a:t>
            </a:r>
            <a:endParaRPr lang="en-US" sz="2800" dirty="0"/>
          </a:p>
        </p:txBody>
      </p:sp>
      <p:sp>
        <p:nvSpPr>
          <p:cNvPr id="3" name="Dato SHA-256"/>
          <p:cNvSpPr/>
          <p:nvPr/>
        </p:nvSpPr>
        <p:spPr>
          <a:xfrm>
            <a:off x="548640" y="1371600"/>
            <a:ext cx="31089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4" name="Cifra SHA-256"/>
          <p:cNvSpPr txBox="1"/>
          <p:nvPr/>
        </p:nvSpPr>
        <p:spPr>
          <a:xfrm>
            <a:off x="685800" y="14173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SHA-256</a:t>
            </a:r>
            <a:endParaRPr lang="en-US" sz="1900" dirty="0"/>
          </a:p>
        </p:txBody>
      </p:sp>
      <p:sp>
        <p:nvSpPr>
          <p:cNvPr id="5" name="Texto cifra SHA-256"/>
          <p:cNvSpPr txBox="1"/>
          <p:nvPr/>
        </p:nvSpPr>
        <p:spPr>
          <a:xfrm>
            <a:off x="2194560" y="14173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Hash de la contraseña antes de guardarla</a:t>
            </a:r>
            <a:endParaRPr lang="en-US" sz="1150" dirty="0"/>
          </a:p>
        </p:txBody>
      </p:sp>
      <p:sp>
        <p:nvSpPr>
          <p:cNvPr id="6" name="Dato 6+"/>
          <p:cNvSpPr/>
          <p:nvPr/>
        </p:nvSpPr>
        <p:spPr>
          <a:xfrm>
            <a:off x="548640" y="2395728"/>
            <a:ext cx="31089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7" name="Cifra 6+"/>
          <p:cNvSpPr txBox="1"/>
          <p:nvPr/>
        </p:nvSpPr>
        <p:spPr>
          <a:xfrm>
            <a:off x="685800" y="2441448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6+</a:t>
            </a:r>
            <a:endParaRPr lang="en-US" sz="1900" dirty="0"/>
          </a:p>
        </p:txBody>
      </p:sp>
      <p:sp>
        <p:nvSpPr>
          <p:cNvPr id="8" name="Texto cifra 6+"/>
          <p:cNvSpPr txBox="1"/>
          <p:nvPr/>
        </p:nvSpPr>
        <p:spPr>
          <a:xfrm>
            <a:off x="2194560" y="2441448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Caracteres mínimos en la contraseña</a:t>
            </a:r>
            <a:endParaRPr lang="en-US" sz="1150" dirty="0"/>
          </a:p>
        </p:txBody>
      </p:sp>
      <p:sp>
        <p:nvSpPr>
          <p:cNvPr id="9" name="Dato 19.628"/>
          <p:cNvSpPr/>
          <p:nvPr/>
        </p:nvSpPr>
        <p:spPr>
          <a:xfrm>
            <a:off x="548640" y="3419856"/>
            <a:ext cx="31089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10" name="Cifra 19.628"/>
          <p:cNvSpPr txBox="1"/>
          <p:nvPr/>
        </p:nvSpPr>
        <p:spPr>
          <a:xfrm>
            <a:off x="685800" y="3465576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19.628</a:t>
            </a:r>
            <a:endParaRPr lang="en-US" sz="1900" dirty="0"/>
          </a:p>
        </p:txBody>
      </p:sp>
      <p:sp>
        <p:nvSpPr>
          <p:cNvPr id="11" name="Texto cifra 19.628"/>
          <p:cNvSpPr txBox="1"/>
          <p:nvPr/>
        </p:nvSpPr>
        <p:spPr>
          <a:xfrm>
            <a:off x="2194560" y="3465576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Ley de datos: solo vuelos ficticios</a:t>
            </a:r>
            <a:endParaRPr lang="en-US" sz="1150" dirty="0"/>
          </a:p>
        </p:txBody>
      </p:sp>
      <p:sp>
        <p:nvSpPr>
          <p:cNvPr id="12" name="Subtítulo validaciones"/>
          <p:cNvSpPr txBox="1"/>
          <p:nvPr/>
        </p:nvSpPr>
        <p:spPr>
          <a:xfrm>
            <a:off x="402336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Validaciones en los formularios</a:t>
            </a:r>
            <a:endParaRPr lang="en-US" sz="1600" dirty="0"/>
          </a:p>
        </p:txBody>
      </p:sp>
      <p:sp>
        <p:nvSpPr>
          <p:cNvPr id="13" name="Lista validaciones"/>
          <p:cNvSpPr txBox="1"/>
          <p:nvPr/>
        </p:nvSpPr>
        <p:spPr>
          <a:xfrm>
            <a:off x="4023360" y="1828800"/>
            <a:ext cx="4389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Nombre completo con largo mínimo.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Correo con formato válido.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Contraseña de al menos 6 caracteres.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Confirmación que debe coincidir.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Ícono de advertencia o de campo válido.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Mensaje de error animado bajo cada campo.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Organización: tablero Trello</a:t>
            </a:r>
            <a:endParaRPr lang="en-US" sz="2800" dirty="0"/>
          </a:p>
        </p:txBody>
      </p:sp>
      <p:sp>
        <p:nvSpPr>
          <p:cNvPr id="3" name="Columna Por hacer"/>
          <p:cNvSpPr/>
          <p:nvPr/>
        </p:nvSpPr>
        <p:spPr>
          <a:xfrm>
            <a:off x="548640" y="1280160"/>
            <a:ext cx="1874520" cy="2697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4" name="Franja Por hacer"/>
          <p:cNvSpPr/>
          <p:nvPr/>
        </p:nvSpPr>
        <p:spPr>
          <a:xfrm>
            <a:off x="658368" y="1371600"/>
            <a:ext cx="1655064" cy="5486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ítulo columna Por hacer"/>
          <p:cNvSpPr txBox="1"/>
          <p:nvPr/>
        </p:nvSpPr>
        <p:spPr>
          <a:xfrm>
            <a:off x="658368" y="1463040"/>
            <a:ext cx="1655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 hacer</a:t>
            </a:r>
            <a:endParaRPr lang="en-US" sz="1300" dirty="0"/>
          </a:p>
        </p:txBody>
      </p:sp>
      <p:sp>
        <p:nvSpPr>
          <p:cNvPr id="6" name="Tarjeta Por hacer 1"/>
          <p:cNvSpPr/>
          <p:nvPr/>
        </p:nvSpPr>
        <p:spPr>
          <a:xfrm>
            <a:off x="658368" y="1847088"/>
            <a:ext cx="165506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7" name="Texto tarjeta Por hacer 1"/>
          <p:cNvSpPr txBox="1"/>
          <p:nvPr/>
        </p:nvSpPr>
        <p:spPr>
          <a:xfrm>
            <a:off x="731520" y="1847088"/>
            <a:ext cx="152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Leer QR con la cámara</a:t>
            </a:r>
            <a:endParaRPr lang="en-US" sz="1100" dirty="0"/>
          </a:p>
        </p:txBody>
      </p:sp>
      <p:sp>
        <p:nvSpPr>
          <p:cNvPr id="8" name="Tarjeta Por hacer 2"/>
          <p:cNvSpPr/>
          <p:nvPr/>
        </p:nvSpPr>
        <p:spPr>
          <a:xfrm>
            <a:off x="658368" y="2377440"/>
            <a:ext cx="165506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9" name="Texto tarjeta Por hacer 2"/>
          <p:cNvSpPr txBox="1"/>
          <p:nvPr/>
        </p:nvSpPr>
        <p:spPr>
          <a:xfrm>
            <a:off x="731520" y="2377440"/>
            <a:ext cx="152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Rol operador</a:t>
            </a:r>
            <a:endParaRPr lang="en-US" sz="1100" dirty="0"/>
          </a:p>
        </p:txBody>
      </p:sp>
      <p:sp>
        <p:nvSpPr>
          <p:cNvPr id="10" name="Tarjeta Por hacer 3"/>
          <p:cNvSpPr/>
          <p:nvPr/>
        </p:nvSpPr>
        <p:spPr>
          <a:xfrm>
            <a:off x="658368" y="2907792"/>
            <a:ext cx="165506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11" name="Texto tarjeta Por hacer 3"/>
          <p:cNvSpPr txBox="1"/>
          <p:nvPr/>
        </p:nvSpPr>
        <p:spPr>
          <a:xfrm>
            <a:off x="731520" y="2907792"/>
            <a:ext cx="152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Conexión con backend</a:t>
            </a:r>
            <a:endParaRPr lang="en-US" sz="1100" dirty="0"/>
          </a:p>
        </p:txBody>
      </p:sp>
      <p:sp>
        <p:nvSpPr>
          <p:cNvPr id="12" name="Columna En progreso"/>
          <p:cNvSpPr/>
          <p:nvPr/>
        </p:nvSpPr>
        <p:spPr>
          <a:xfrm>
            <a:off x="2532888" y="1280160"/>
            <a:ext cx="1874520" cy="2697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13" name="Franja En progreso"/>
          <p:cNvSpPr/>
          <p:nvPr/>
        </p:nvSpPr>
        <p:spPr>
          <a:xfrm>
            <a:off x="2642616" y="1371600"/>
            <a:ext cx="1655064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ítulo columna En progreso"/>
          <p:cNvSpPr txBox="1"/>
          <p:nvPr/>
        </p:nvSpPr>
        <p:spPr>
          <a:xfrm>
            <a:off x="2642616" y="1463040"/>
            <a:ext cx="1655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 progreso</a:t>
            </a:r>
            <a:endParaRPr lang="en-US" sz="1300" dirty="0"/>
          </a:p>
        </p:txBody>
      </p:sp>
      <p:sp>
        <p:nvSpPr>
          <p:cNvPr id="15" name="Tarjeta En progreso 1"/>
          <p:cNvSpPr/>
          <p:nvPr/>
        </p:nvSpPr>
        <p:spPr>
          <a:xfrm>
            <a:off x="2642616" y="1847088"/>
            <a:ext cx="165506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16" name="Texto tarjeta En progreso 1"/>
          <p:cNvSpPr txBox="1"/>
          <p:nvPr/>
        </p:nvSpPr>
        <p:spPr>
          <a:xfrm>
            <a:off x="2715768" y="1847088"/>
            <a:ext cx="152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Historial de vuelos</a:t>
            </a:r>
            <a:endParaRPr lang="en-US" sz="1100" dirty="0"/>
          </a:p>
        </p:txBody>
      </p:sp>
      <p:sp>
        <p:nvSpPr>
          <p:cNvPr id="17" name="Tarjeta En progreso 2"/>
          <p:cNvSpPr/>
          <p:nvPr/>
        </p:nvSpPr>
        <p:spPr>
          <a:xfrm>
            <a:off x="2642616" y="2377440"/>
            <a:ext cx="165506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18" name="Texto tarjeta En progreso 2"/>
          <p:cNvSpPr txBox="1"/>
          <p:nvPr/>
        </p:nvSpPr>
        <p:spPr>
          <a:xfrm>
            <a:off x="2715768" y="2377440"/>
            <a:ext cx="152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Pruebas unitarias</a:t>
            </a:r>
            <a:endParaRPr lang="en-US" sz="1100" dirty="0"/>
          </a:p>
        </p:txBody>
      </p:sp>
      <p:sp>
        <p:nvSpPr>
          <p:cNvPr id="19" name="Columna En revisión"/>
          <p:cNvSpPr/>
          <p:nvPr/>
        </p:nvSpPr>
        <p:spPr>
          <a:xfrm>
            <a:off x="4517136" y="1280160"/>
            <a:ext cx="1874520" cy="2697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20" name="Franja En revisión"/>
          <p:cNvSpPr/>
          <p:nvPr/>
        </p:nvSpPr>
        <p:spPr>
          <a:xfrm>
            <a:off x="4626864" y="1371600"/>
            <a:ext cx="1655064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ítulo columna En revisión"/>
          <p:cNvSpPr txBox="1"/>
          <p:nvPr/>
        </p:nvSpPr>
        <p:spPr>
          <a:xfrm>
            <a:off x="4626864" y="1463040"/>
            <a:ext cx="1655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 revisión</a:t>
            </a:r>
            <a:endParaRPr lang="en-US" sz="1300" dirty="0"/>
          </a:p>
        </p:txBody>
      </p:sp>
      <p:sp>
        <p:nvSpPr>
          <p:cNvPr id="22" name="Tarjeta En revisión 1"/>
          <p:cNvSpPr/>
          <p:nvPr/>
        </p:nvSpPr>
        <p:spPr>
          <a:xfrm>
            <a:off x="4626864" y="1847088"/>
            <a:ext cx="165506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23" name="Texto tarjeta En revisión 1"/>
          <p:cNvSpPr txBox="1"/>
          <p:nvPr/>
        </p:nvSpPr>
        <p:spPr>
          <a:xfrm>
            <a:off x="4700016" y="1847088"/>
            <a:ext cx="152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Pase con código QR</a:t>
            </a:r>
            <a:endParaRPr lang="en-US" sz="1100" dirty="0"/>
          </a:p>
        </p:txBody>
      </p:sp>
      <p:sp>
        <p:nvSpPr>
          <p:cNvPr id="24" name="Tarjeta En revisión 2"/>
          <p:cNvSpPr/>
          <p:nvPr/>
        </p:nvSpPr>
        <p:spPr>
          <a:xfrm>
            <a:off x="4626864" y="2377440"/>
            <a:ext cx="165506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25" name="Texto tarjeta En revisión 2"/>
          <p:cNvSpPr txBox="1"/>
          <p:nvPr/>
        </p:nvSpPr>
        <p:spPr>
          <a:xfrm>
            <a:off x="4700016" y="2377440"/>
            <a:ext cx="152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Envío real de correo</a:t>
            </a:r>
            <a:endParaRPr lang="en-US" sz="1100" dirty="0"/>
          </a:p>
        </p:txBody>
      </p:sp>
      <p:sp>
        <p:nvSpPr>
          <p:cNvPr id="26" name="Columna Hecho"/>
          <p:cNvSpPr/>
          <p:nvPr/>
        </p:nvSpPr>
        <p:spPr>
          <a:xfrm>
            <a:off x="6501384" y="1280160"/>
            <a:ext cx="1874520" cy="2697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27" name="Franja Hecho"/>
          <p:cNvSpPr/>
          <p:nvPr/>
        </p:nvSpPr>
        <p:spPr>
          <a:xfrm>
            <a:off x="6611112" y="1371600"/>
            <a:ext cx="1655064" cy="54864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Título columna Hecho"/>
          <p:cNvSpPr txBox="1"/>
          <p:nvPr/>
        </p:nvSpPr>
        <p:spPr>
          <a:xfrm>
            <a:off x="6611112" y="1463040"/>
            <a:ext cx="1655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Hecho</a:t>
            </a:r>
            <a:endParaRPr lang="en-US" sz="1300" dirty="0"/>
          </a:p>
        </p:txBody>
      </p:sp>
      <p:sp>
        <p:nvSpPr>
          <p:cNvPr id="29" name="Tarjeta Hecho 1"/>
          <p:cNvSpPr/>
          <p:nvPr/>
        </p:nvSpPr>
        <p:spPr>
          <a:xfrm>
            <a:off x="6611112" y="1847088"/>
            <a:ext cx="165506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30" name="Texto tarjeta Hecho 1"/>
          <p:cNvSpPr txBox="1"/>
          <p:nvPr/>
        </p:nvSpPr>
        <p:spPr>
          <a:xfrm>
            <a:off x="6684264" y="1847088"/>
            <a:ext cx="152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Registro y login con Room</a:t>
            </a:r>
            <a:endParaRPr lang="en-US" sz="1100" dirty="0"/>
          </a:p>
        </p:txBody>
      </p:sp>
      <p:sp>
        <p:nvSpPr>
          <p:cNvPr id="31" name="Tarjeta Hecho 2"/>
          <p:cNvSpPr/>
          <p:nvPr/>
        </p:nvSpPr>
        <p:spPr>
          <a:xfrm>
            <a:off x="6611112" y="2377440"/>
            <a:ext cx="165506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32" name="Texto tarjeta Hecho 2"/>
          <p:cNvSpPr txBox="1"/>
          <p:nvPr/>
        </p:nvSpPr>
        <p:spPr>
          <a:xfrm>
            <a:off x="6684264" y="2377440"/>
            <a:ext cx="152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Vuelos y filtro por fecha</a:t>
            </a:r>
            <a:endParaRPr lang="en-US" sz="1100" dirty="0"/>
          </a:p>
        </p:txBody>
      </p:sp>
      <p:sp>
        <p:nvSpPr>
          <p:cNvPr id="33" name="Tarjeta Hecho 3"/>
          <p:cNvSpPr/>
          <p:nvPr/>
        </p:nvSpPr>
        <p:spPr>
          <a:xfrm>
            <a:off x="6611112" y="2907792"/>
            <a:ext cx="165506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34" name="Texto tarjeta Hecho 3"/>
          <p:cNvSpPr txBox="1"/>
          <p:nvPr/>
        </p:nvSpPr>
        <p:spPr>
          <a:xfrm>
            <a:off x="6684264" y="2907792"/>
            <a:ext cx="152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Consentimiento de vuelo</a:t>
            </a:r>
            <a:endParaRPr lang="en-US" sz="1100" dirty="0"/>
          </a:p>
        </p:txBody>
      </p:sp>
      <p:sp>
        <p:nvSpPr>
          <p:cNvPr id="35" name="Tarjeta Hecho 4"/>
          <p:cNvSpPr/>
          <p:nvPr/>
        </p:nvSpPr>
        <p:spPr>
          <a:xfrm>
            <a:off x="6611112" y="3438144"/>
            <a:ext cx="165506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36" name="Texto tarjeta Hecho 4"/>
          <p:cNvSpPr txBox="1"/>
          <p:nvPr/>
        </p:nvSpPr>
        <p:spPr>
          <a:xfrm>
            <a:off x="6684264" y="3438144"/>
            <a:ext cx="152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Calendario nativo</a:t>
            </a:r>
            <a:endParaRPr lang="en-US" sz="1100" dirty="0"/>
          </a:p>
        </p:txBody>
      </p:sp>
      <p:sp>
        <p:nvSpPr>
          <p:cNvPr id="37" name="Franja GitHub"/>
          <p:cNvSpPr/>
          <p:nvPr/>
        </p:nvSpPr>
        <p:spPr>
          <a:xfrm>
            <a:off x="548640" y="411480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FF3E0"/>
          </a:solidFill>
          <a:ln w="9525">
            <a:solidFill>
              <a:srgbClr val="FFCC80"/>
            </a:solidFill>
            <a:prstDash val="solid"/>
          </a:ln>
        </p:spPr>
      </p:sp>
      <p:pic>
        <p:nvPicPr>
          <p:cNvPr id="38" name="Ícono GitHub" descr="Git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251960"/>
            <a:ext cx="274320" cy="274320"/>
          </a:xfrm>
          <a:prstGeom prst="rect">
            <a:avLst/>
          </a:prstGeom>
        </p:spPr>
      </p:pic>
      <p:sp>
        <p:nvSpPr>
          <p:cNvPr id="39" name="Texto GitHub"/>
          <p:cNvSpPr txBox="1"/>
          <p:nvPr/>
        </p:nvSpPr>
        <p:spPr>
          <a:xfrm>
            <a:off x="1143000" y="411480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GitHub: una rama por tarea y Pull Request revisado por el otro integrante.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Próximos pasos</a:t>
            </a:r>
            <a:endParaRPr lang="en-US" sz="2800" dirty="0"/>
          </a:p>
        </p:txBody>
      </p:sp>
      <p:sp>
        <p:nvSpPr>
          <p:cNvPr id="3" name="Panel pendientes"/>
          <p:cNvSpPr/>
          <p:nvPr/>
        </p:nvSpPr>
        <p:spPr>
          <a:xfrm>
            <a:off x="548640" y="1371600"/>
            <a:ext cx="475488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9525">
            <a:solidFill>
              <a:srgbClr val="D6E4F2"/>
            </a:solidFill>
            <a:prstDash val="solid"/>
          </a:ln>
        </p:spPr>
      </p:sp>
      <p:sp>
        <p:nvSpPr>
          <p:cNvPr id="4" name="Título pendientes"/>
          <p:cNvSpPr txBox="1"/>
          <p:nvPr/>
        </p:nvSpPr>
        <p:spPr>
          <a:xfrm>
            <a:off x="777240" y="1508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Pendiente para la entrega final</a:t>
            </a:r>
            <a:endParaRPr lang="en-US" sz="1600" dirty="0"/>
          </a:p>
        </p:txBody>
      </p:sp>
      <p:sp>
        <p:nvSpPr>
          <p:cNvPr id="5" name="Lista pendientes"/>
          <p:cNvSpPr txBox="1"/>
          <p:nvPr/>
        </p:nvSpPr>
        <p:spPr>
          <a:xfrm>
            <a:off x="777240" y="201168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Leer el código QR con la cámara (rol operador).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Crear el rol operador.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Conectar la app con un backend.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Guardar vuelo y consentimiento en Room.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Agregar pruebas unitarias.</a:t>
            </a:r>
            <a:endParaRPr lang="en-US" sz="1400" dirty="0"/>
          </a:p>
        </p:txBody>
      </p:sp>
      <p:sp>
        <p:nvSpPr>
          <p:cNvPr id="6" name="Panel cierre"/>
          <p:cNvSpPr/>
          <p:nvPr/>
        </p:nvSpPr>
        <p:spPr>
          <a:xfrm>
            <a:off x="5532120" y="1371600"/>
            <a:ext cx="2880360" cy="2834640"/>
          </a:xfrm>
          <a:prstGeom prst="roundRect">
            <a:avLst>
              <a:gd name="adj" fmla="val 258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7" name="Ícono cierre" descr="Av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737360"/>
            <a:ext cx="685800" cy="685800"/>
          </a:xfrm>
          <a:prstGeom prst="rect">
            <a:avLst/>
          </a:prstGeom>
        </p:spPr>
      </p:pic>
      <p:sp>
        <p:nvSpPr>
          <p:cNvPr id="8" name="Texto gracias"/>
          <p:cNvSpPr txBox="1"/>
          <p:nvPr/>
        </p:nvSpPr>
        <p:spPr>
          <a:xfrm>
            <a:off x="5532120" y="25603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Gracias</a:t>
            </a:r>
            <a:endParaRPr lang="en-US" sz="2800" dirty="0"/>
          </a:p>
        </p:txBody>
      </p:sp>
      <p:sp>
        <p:nvSpPr>
          <p:cNvPr id="9" name="Texto preguntas"/>
          <p:cNvSpPr txBox="1"/>
          <p:nvPr/>
        </p:nvSpPr>
        <p:spPr>
          <a:xfrm>
            <a:off x="5532120" y="3108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B74D"/>
                </a:solidFill>
              </a:rPr>
              <a:t>¿Preguntas?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PEBE">
  <a:themeElements>
    <a:clrScheme name="CAPEBE">
      <a:dk1>
        <a:srgbClr val="1F2937"/>
      </a:dk1>
      <a:lt1>
        <a:srgbClr val="FFFFFF"/>
      </a:lt1>
      <a:dk2>
        <a:srgbClr val="0B2A4A"/>
      </a:dk2>
      <a:lt2>
        <a:srgbClr val="EAF4FF"/>
      </a:lt2>
      <a:accent1>
        <a:srgbClr val="0B2A4A"/>
      </a:accent1>
      <a:accent2>
        <a:srgbClr val="FF8F00"/>
      </a:accent2>
      <a:accent3>
        <a:srgbClr val="1B7F3B"/>
      </a:accent3>
      <a:accent4>
        <a:srgbClr val="3B82F6"/>
      </a:accent4>
      <a:accent5>
        <a:srgbClr val="6B7280"/>
      </a:accent5>
      <a:accent6>
        <a:srgbClr val="C2410C"/>
      </a:accent6>
      <a:hlink>
        <a:srgbClr val="0B63CE"/>
      </a:hlink>
      <a:folHlink>
        <a:srgbClr val="6B7280"/>
      </a:folHlink>
    </a:clrScheme>
    <a:fontScheme name="CAPEB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Aplicación Vuelos · CAPEBE</dc:title>
  <dc:subject>PptxGenJS Presentation</dc:subject>
  <dc:creator>Equipo CAPEBE</dc:creator>
  <cp:lastModifiedBy>Equipo CAPEBE</cp:lastModifiedBy>
  <cp:revision>1</cp:revision>
  <dcterms:created xsi:type="dcterms:W3CDTF">2026-10-17T15:43:09Z</dcterms:created>
  <dcterms:modified xsi:type="dcterms:W3CDTF">2026-10-17T15:43:09Z</dcterms:modified>
</cp:coreProperties>
</file>